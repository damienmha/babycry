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10287000" cx="18288000"/>
  <p:notesSz cx="6858000" cy="9144000"/>
  <p:embeddedFontLst>
    <p:embeddedFont>
      <p:font typeface="Montserrat"/>
      <p:regular r:id="rId36"/>
      <p:bold r:id="rId37"/>
      <p:italic r:id="rId38"/>
      <p:boldItalic r:id="rId39"/>
    </p:embeddedFont>
    <p:embeddedFont>
      <p:font typeface="Lexend"/>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1C6F59-9F9A-4E29-83AA-440699EBBCEF}">
  <a:tblStyle styleId="{021C6F59-9F9A-4E29-83AA-440699EBBCE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exend-regular.fntdata"/><Relationship Id="rId20" Type="http://schemas.openxmlformats.org/officeDocument/2006/relationships/slide" Target="slides/slide14.xml"/><Relationship Id="rId41" Type="http://schemas.openxmlformats.org/officeDocument/2006/relationships/font" Target="fonts/Lexend-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bold.fntdata"/><Relationship Id="rId14" Type="http://schemas.openxmlformats.org/officeDocument/2006/relationships/slide" Target="slides/slide8.xml"/><Relationship Id="rId36" Type="http://schemas.openxmlformats.org/officeDocument/2006/relationships/font" Target="fonts/Montserrat-regular.fntdata"/><Relationship Id="rId17" Type="http://schemas.openxmlformats.org/officeDocument/2006/relationships/slide" Target="slides/slide11.xml"/><Relationship Id="rId39" Type="http://schemas.openxmlformats.org/officeDocument/2006/relationships/font" Target="fonts/Montserrat-boldItalic.fntdata"/><Relationship Id="rId16" Type="http://schemas.openxmlformats.org/officeDocument/2006/relationships/slide" Target="slides/slide10.xml"/><Relationship Id="rId38" Type="http://schemas.openxmlformats.org/officeDocument/2006/relationships/font" Target="fonts/Montserra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72b1aab5d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272b1aab5d3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72b1aab5d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272b1aab5d3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72b1aab5d3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272b1aab5d3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e51840cf4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2e51840cf47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72b1aab5d3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272b1aab5d3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72b1aab5d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272b1aab5d3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72b1aab5d3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272b1aab5d3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72b1aab5d3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272b1aab5d3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72b1aab5d3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272b1aab5d3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72b1aab5d3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272b1aab5d3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72b1aab5d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272b1aab5d3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72b1aab5d3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272b1aab5d3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72b1aab5d3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272b1aab5d3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e2d311450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2e2d311450e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72b1aab5d3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g272b1aab5d3_0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e2d31145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2e2d311450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72b1aab5d3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272b1aab5d3_0_2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72b1aab5d3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272b1aab5d3_0_2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72b1aab5d3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g272b1aab5d3_0_2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e2971cae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2e2971cae9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72b1aab5d3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g272b1aab5d3_0_2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72b1aab5d3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272b1aab5d3_0_2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72b1aab5d3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272b1aab5d3_0_3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e201fab5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2e201fab52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e21de4b4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2e21de4b43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e2ecea8d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2e2ecea8db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e51840cf4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2e51840cf47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83" name="Shape 83"/>
        <p:cNvGrpSpPr/>
        <p:nvPr/>
      </p:nvGrpSpPr>
      <p:grpSpPr>
        <a:xfrm>
          <a:off x="0" y="0"/>
          <a:ext cx="0" cy="0"/>
          <a:chOff x="0" y="0"/>
          <a:chExt cx="0" cy="0"/>
        </a:xfrm>
      </p:grpSpPr>
      <p:grpSp>
        <p:nvGrpSpPr>
          <p:cNvPr id="84" name="Google Shape;84;p13"/>
          <p:cNvGrpSpPr/>
          <p:nvPr/>
        </p:nvGrpSpPr>
        <p:grpSpPr>
          <a:xfrm>
            <a:off x="-1147115" y="0"/>
            <a:ext cx="20582229" cy="10287000"/>
            <a:chOff x="0" y="0"/>
            <a:chExt cx="27442972" cy="13716000"/>
          </a:xfrm>
        </p:grpSpPr>
        <p:sp>
          <p:nvSpPr>
            <p:cNvPr id="85" name="Google Shape;85;p13"/>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86" name="Google Shape;86;p13"/>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sp>
        <p:nvSpPr>
          <p:cNvPr id="87" name="Google Shape;87;p13"/>
          <p:cNvSpPr txBox="1"/>
          <p:nvPr/>
        </p:nvSpPr>
        <p:spPr>
          <a:xfrm>
            <a:off x="10413446" y="2368651"/>
            <a:ext cx="7225800" cy="5048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8200">
                <a:solidFill>
                  <a:srgbClr val="D34937"/>
                </a:solidFill>
                <a:latin typeface="Lexend"/>
                <a:ea typeface="Lexend"/>
                <a:cs typeface="Lexend"/>
                <a:sym typeface="Lexend"/>
              </a:rPr>
              <a:t>STATS 141XP: Cry Detection Classification</a:t>
            </a:r>
            <a:endParaRPr b="1" sz="8200">
              <a:latin typeface="Lexend"/>
              <a:ea typeface="Lexend"/>
              <a:cs typeface="Lexend"/>
              <a:sym typeface="Lexend"/>
            </a:endParaRPr>
          </a:p>
        </p:txBody>
      </p:sp>
      <p:sp>
        <p:nvSpPr>
          <p:cNvPr id="88" name="Google Shape;88;p13"/>
          <p:cNvSpPr txBox="1"/>
          <p:nvPr/>
        </p:nvSpPr>
        <p:spPr>
          <a:xfrm>
            <a:off x="11317226" y="7488454"/>
            <a:ext cx="5418300" cy="7389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lang="en-US" sz="2000">
                <a:solidFill>
                  <a:srgbClr val="2E1B2A"/>
                </a:solidFill>
                <a:latin typeface="Montserrat"/>
                <a:ea typeface="Montserrat"/>
                <a:cs typeface="Montserrat"/>
                <a:sym typeface="Montserrat"/>
              </a:rPr>
              <a:t>Ananya Garg, Carly Jeung, Damien Ha, Janice Chung, Jiaruo Ding, Ken Deng</a:t>
            </a:r>
            <a:endParaRPr sz="2000">
              <a:latin typeface="Montserrat"/>
              <a:ea typeface="Montserrat"/>
              <a:cs typeface="Montserrat"/>
              <a:sym typeface="Montserrat"/>
            </a:endParaRPr>
          </a:p>
        </p:txBody>
      </p:sp>
      <p:sp>
        <p:nvSpPr>
          <p:cNvPr id="89" name="Google Shape;89;p13"/>
          <p:cNvSpPr/>
          <p:nvPr/>
        </p:nvSpPr>
        <p:spPr>
          <a:xfrm>
            <a:off x="343614" y="0"/>
            <a:ext cx="9872626" cy="10030579"/>
          </a:xfrm>
          <a:custGeom>
            <a:rect b="b" l="l" r="r" t="t"/>
            <a:pathLst>
              <a:path extrusionOk="0" h="10030579" w="9872626">
                <a:moveTo>
                  <a:pt x="0" y="0"/>
                </a:moveTo>
                <a:lnTo>
                  <a:pt x="9872626" y="0"/>
                </a:lnTo>
                <a:lnTo>
                  <a:pt x="9872626" y="10030579"/>
                </a:lnTo>
                <a:lnTo>
                  <a:pt x="0" y="10030579"/>
                </a:lnTo>
                <a:lnTo>
                  <a:pt x="0" y="0"/>
                </a:lnTo>
                <a:close/>
              </a:path>
            </a:pathLst>
          </a:custGeom>
          <a:blipFill rotWithShape="1">
            <a:blip r:embed="rId4">
              <a:alphaModFix/>
            </a:blip>
            <a:stretch>
              <a:fillRect b="0" l="-227" r="-227"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93" name="Shape 93"/>
        <p:cNvGrpSpPr/>
        <p:nvPr/>
      </p:nvGrpSpPr>
      <p:grpSpPr>
        <a:xfrm>
          <a:off x="0" y="0"/>
          <a:ext cx="0" cy="0"/>
          <a:chOff x="0" y="0"/>
          <a:chExt cx="0" cy="0"/>
        </a:xfrm>
      </p:grpSpPr>
      <p:grpSp>
        <p:nvGrpSpPr>
          <p:cNvPr id="94" name="Google Shape;94;p14"/>
          <p:cNvGrpSpPr/>
          <p:nvPr/>
        </p:nvGrpSpPr>
        <p:grpSpPr>
          <a:xfrm>
            <a:off x="-1147115" y="0"/>
            <a:ext cx="20582229" cy="10287000"/>
            <a:chOff x="0" y="0"/>
            <a:chExt cx="27442972" cy="13716000"/>
          </a:xfrm>
        </p:grpSpPr>
        <p:sp>
          <p:nvSpPr>
            <p:cNvPr id="95" name="Google Shape;95;p14"/>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96" name="Google Shape;96;p14"/>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97" name="Google Shape;97;p14"/>
          <p:cNvGrpSpPr/>
          <p:nvPr/>
        </p:nvGrpSpPr>
        <p:grpSpPr>
          <a:xfrm>
            <a:off x="1028700" y="582975"/>
            <a:ext cx="8520808" cy="1393624"/>
            <a:chOff x="0" y="-38100"/>
            <a:chExt cx="2588731" cy="587878"/>
          </a:xfrm>
        </p:grpSpPr>
        <p:sp>
          <p:nvSpPr>
            <p:cNvPr id="98" name="Google Shape;98;p14"/>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txBox="1"/>
            <p:nvPr/>
          </p:nvSpPr>
          <p:spPr>
            <a:xfrm>
              <a:off x="0" y="-38100"/>
              <a:ext cx="2588731" cy="58787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0" name="Google Shape;100;p14"/>
          <p:cNvSpPr txBox="1"/>
          <p:nvPr/>
        </p:nvSpPr>
        <p:spPr>
          <a:xfrm>
            <a:off x="1703291" y="869692"/>
            <a:ext cx="95442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000">
                <a:solidFill>
                  <a:srgbClr val="D34937"/>
                </a:solidFill>
                <a:latin typeface="Lexend"/>
                <a:ea typeface="Lexend"/>
                <a:cs typeface="Lexend"/>
                <a:sym typeface="Lexend"/>
              </a:rPr>
              <a:t>Table of Contents</a:t>
            </a:r>
            <a:endParaRPr b="1" sz="6000">
              <a:latin typeface="Lexend"/>
              <a:ea typeface="Lexend"/>
              <a:cs typeface="Lexend"/>
              <a:sym typeface="Lexend"/>
            </a:endParaRPr>
          </a:p>
        </p:txBody>
      </p:sp>
      <p:sp>
        <p:nvSpPr>
          <p:cNvPr id="101" name="Google Shape;101;p14"/>
          <p:cNvSpPr txBox="1"/>
          <p:nvPr/>
        </p:nvSpPr>
        <p:spPr>
          <a:xfrm>
            <a:off x="1703291" y="4055820"/>
            <a:ext cx="10531500" cy="21540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t/>
            </a:r>
            <a:endParaRPr/>
          </a:p>
        </p:txBody>
      </p:sp>
      <p:grpSp>
        <p:nvGrpSpPr>
          <p:cNvPr id="102" name="Google Shape;102;p14"/>
          <p:cNvGrpSpPr/>
          <p:nvPr/>
        </p:nvGrpSpPr>
        <p:grpSpPr>
          <a:xfrm>
            <a:off x="1028700" y="2295699"/>
            <a:ext cx="12084993" cy="1066122"/>
            <a:chOff x="0" y="-38100"/>
            <a:chExt cx="4144800" cy="388500"/>
          </a:xfrm>
        </p:grpSpPr>
        <p:sp>
          <p:nvSpPr>
            <p:cNvPr id="103" name="Google Shape;103;p14"/>
            <p:cNvSpPr/>
            <p:nvPr/>
          </p:nvSpPr>
          <p:spPr>
            <a:xfrm>
              <a:off x="0" y="0"/>
              <a:ext cx="4144726" cy="350263"/>
            </a:xfrm>
            <a:custGeom>
              <a:rect b="b" l="l" r="r" t="t"/>
              <a:pathLst>
                <a:path extrusionOk="0" h="350263" w="4144726">
                  <a:moveTo>
                    <a:pt x="32541" y="0"/>
                  </a:moveTo>
                  <a:lnTo>
                    <a:pt x="4112185" y="0"/>
                  </a:lnTo>
                  <a:cubicBezTo>
                    <a:pt x="4130157" y="0"/>
                    <a:pt x="4144726" y="14569"/>
                    <a:pt x="4144726" y="32541"/>
                  </a:cubicBezTo>
                  <a:lnTo>
                    <a:pt x="4144726" y="317722"/>
                  </a:lnTo>
                  <a:cubicBezTo>
                    <a:pt x="4144726" y="326353"/>
                    <a:pt x="4141297" y="334630"/>
                    <a:pt x="4135195" y="340732"/>
                  </a:cubicBezTo>
                  <a:cubicBezTo>
                    <a:pt x="4129092" y="346835"/>
                    <a:pt x="4120815" y="350263"/>
                    <a:pt x="4112185" y="350263"/>
                  </a:cubicBezTo>
                  <a:lnTo>
                    <a:pt x="32541" y="350263"/>
                  </a:lnTo>
                  <a:cubicBezTo>
                    <a:pt x="14569" y="350263"/>
                    <a:pt x="0" y="335694"/>
                    <a:pt x="0" y="317722"/>
                  </a:cubicBezTo>
                  <a:lnTo>
                    <a:pt x="0" y="32541"/>
                  </a:lnTo>
                  <a:cubicBezTo>
                    <a:pt x="0" y="14569"/>
                    <a:pt x="14569" y="0"/>
                    <a:pt x="32541"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txBox="1"/>
            <p:nvPr/>
          </p:nvSpPr>
          <p:spPr>
            <a:xfrm>
              <a:off x="0" y="-38100"/>
              <a:ext cx="4144800" cy="388500"/>
            </a:xfrm>
            <a:prstGeom prst="rect">
              <a:avLst/>
            </a:prstGeom>
            <a:noFill/>
            <a:ln>
              <a:noFill/>
            </a:ln>
          </p:spPr>
          <p:txBody>
            <a:bodyPr anchorCtr="0" anchor="ctr" bIns="50800" lIns="50800" spcFirstLastPara="1" rIns="50800" wrap="square" tIns="50800">
              <a:noAutofit/>
            </a:bodyPr>
            <a:lstStyle/>
            <a:p>
              <a:pPr indent="-419100" lvl="0" marL="914400" marR="0" rtl="0" algn="l">
                <a:lnSpc>
                  <a:spcPct val="147722"/>
                </a:lnSpc>
                <a:spcBef>
                  <a:spcPts val="0"/>
                </a:spcBef>
                <a:spcAft>
                  <a:spcPts val="0"/>
                </a:spcAft>
                <a:buClr>
                  <a:schemeClr val="dk1"/>
                </a:buClr>
                <a:buSzPts val="3000"/>
                <a:buFont typeface="Montserrat"/>
                <a:buAutoNum type="arabicPeriod"/>
              </a:pPr>
              <a:r>
                <a:rPr lang="en-US" sz="3000">
                  <a:solidFill>
                    <a:schemeClr val="dk1"/>
                  </a:solidFill>
                  <a:latin typeface="Montserrat"/>
                  <a:ea typeface="Montserrat"/>
                  <a:cs typeface="Montserrat"/>
                  <a:sym typeface="Montserrat"/>
                </a:rPr>
                <a:t>Introduction + Abstract</a:t>
              </a:r>
              <a:endParaRPr i="0" sz="3000" u="none" cap="none" strike="noStrike">
                <a:solidFill>
                  <a:schemeClr val="dk1"/>
                </a:solidFill>
                <a:latin typeface="Montserrat"/>
                <a:ea typeface="Montserrat"/>
                <a:cs typeface="Montserrat"/>
                <a:sym typeface="Montserrat"/>
              </a:endParaRPr>
            </a:p>
          </p:txBody>
        </p:sp>
      </p:grpSp>
      <p:grpSp>
        <p:nvGrpSpPr>
          <p:cNvPr id="105" name="Google Shape;105;p14"/>
          <p:cNvGrpSpPr/>
          <p:nvPr/>
        </p:nvGrpSpPr>
        <p:grpSpPr>
          <a:xfrm>
            <a:off x="1028700" y="3536207"/>
            <a:ext cx="12084993" cy="1066122"/>
            <a:chOff x="0" y="-38100"/>
            <a:chExt cx="4144800" cy="388500"/>
          </a:xfrm>
        </p:grpSpPr>
        <p:sp>
          <p:nvSpPr>
            <p:cNvPr id="106" name="Google Shape;106;p14"/>
            <p:cNvSpPr/>
            <p:nvPr/>
          </p:nvSpPr>
          <p:spPr>
            <a:xfrm>
              <a:off x="0" y="0"/>
              <a:ext cx="4144726" cy="350263"/>
            </a:xfrm>
            <a:custGeom>
              <a:rect b="b" l="l" r="r" t="t"/>
              <a:pathLst>
                <a:path extrusionOk="0" h="350263" w="4144726">
                  <a:moveTo>
                    <a:pt x="32541" y="0"/>
                  </a:moveTo>
                  <a:lnTo>
                    <a:pt x="4112185" y="0"/>
                  </a:lnTo>
                  <a:cubicBezTo>
                    <a:pt x="4130157" y="0"/>
                    <a:pt x="4144726" y="14569"/>
                    <a:pt x="4144726" y="32541"/>
                  </a:cubicBezTo>
                  <a:lnTo>
                    <a:pt x="4144726" y="317722"/>
                  </a:lnTo>
                  <a:cubicBezTo>
                    <a:pt x="4144726" y="326353"/>
                    <a:pt x="4141297" y="334630"/>
                    <a:pt x="4135195" y="340732"/>
                  </a:cubicBezTo>
                  <a:cubicBezTo>
                    <a:pt x="4129092" y="346835"/>
                    <a:pt x="4120815" y="350263"/>
                    <a:pt x="4112185" y="350263"/>
                  </a:cubicBezTo>
                  <a:lnTo>
                    <a:pt x="32541" y="350263"/>
                  </a:lnTo>
                  <a:cubicBezTo>
                    <a:pt x="14569" y="350263"/>
                    <a:pt x="0" y="335694"/>
                    <a:pt x="0" y="317722"/>
                  </a:cubicBezTo>
                  <a:lnTo>
                    <a:pt x="0" y="32541"/>
                  </a:lnTo>
                  <a:cubicBezTo>
                    <a:pt x="0" y="14569"/>
                    <a:pt x="14569" y="0"/>
                    <a:pt x="32541"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txBox="1"/>
            <p:nvPr/>
          </p:nvSpPr>
          <p:spPr>
            <a:xfrm>
              <a:off x="0" y="-38100"/>
              <a:ext cx="4144800" cy="388500"/>
            </a:xfrm>
            <a:prstGeom prst="rect">
              <a:avLst/>
            </a:prstGeom>
            <a:noFill/>
            <a:ln>
              <a:noFill/>
            </a:ln>
          </p:spPr>
          <p:txBody>
            <a:bodyPr anchorCtr="0" anchor="ctr" bIns="50800" lIns="50800" spcFirstLastPara="1" rIns="50800" wrap="square" tIns="50800">
              <a:noAutofit/>
            </a:bodyPr>
            <a:lstStyle/>
            <a:p>
              <a:pPr indent="457200" lvl="0" marL="0" rtl="0" algn="l">
                <a:lnSpc>
                  <a:spcPct val="147722"/>
                </a:lnSpc>
                <a:spcBef>
                  <a:spcPts val="0"/>
                </a:spcBef>
                <a:spcAft>
                  <a:spcPts val="0"/>
                </a:spcAft>
                <a:buNone/>
              </a:pPr>
              <a:r>
                <a:rPr lang="en-US" sz="3000">
                  <a:solidFill>
                    <a:schemeClr val="dk1"/>
                  </a:solidFill>
                  <a:latin typeface="Montserrat"/>
                  <a:ea typeface="Montserrat"/>
                  <a:cs typeface="Montserrat"/>
                  <a:sym typeface="Montserrat"/>
                </a:rPr>
                <a:t>2. Literature Review</a:t>
              </a:r>
              <a:endParaRPr sz="1800">
                <a:solidFill>
                  <a:schemeClr val="dk1"/>
                </a:solidFill>
                <a:latin typeface="Calibri"/>
                <a:ea typeface="Calibri"/>
                <a:cs typeface="Calibri"/>
                <a:sym typeface="Calibri"/>
              </a:endParaRPr>
            </a:p>
          </p:txBody>
        </p:sp>
      </p:grpSp>
      <p:grpSp>
        <p:nvGrpSpPr>
          <p:cNvPr id="108" name="Google Shape;108;p14"/>
          <p:cNvGrpSpPr/>
          <p:nvPr/>
        </p:nvGrpSpPr>
        <p:grpSpPr>
          <a:xfrm>
            <a:off x="1028700" y="4776715"/>
            <a:ext cx="12084993" cy="1066122"/>
            <a:chOff x="0" y="-38100"/>
            <a:chExt cx="4144800" cy="388500"/>
          </a:xfrm>
        </p:grpSpPr>
        <p:sp>
          <p:nvSpPr>
            <p:cNvPr id="109" name="Google Shape;109;p14"/>
            <p:cNvSpPr/>
            <p:nvPr/>
          </p:nvSpPr>
          <p:spPr>
            <a:xfrm>
              <a:off x="0" y="0"/>
              <a:ext cx="4144726" cy="350263"/>
            </a:xfrm>
            <a:custGeom>
              <a:rect b="b" l="l" r="r" t="t"/>
              <a:pathLst>
                <a:path extrusionOk="0" h="350263" w="4144726">
                  <a:moveTo>
                    <a:pt x="32541" y="0"/>
                  </a:moveTo>
                  <a:lnTo>
                    <a:pt x="4112185" y="0"/>
                  </a:lnTo>
                  <a:cubicBezTo>
                    <a:pt x="4130157" y="0"/>
                    <a:pt x="4144726" y="14569"/>
                    <a:pt x="4144726" y="32541"/>
                  </a:cubicBezTo>
                  <a:lnTo>
                    <a:pt x="4144726" y="317722"/>
                  </a:lnTo>
                  <a:cubicBezTo>
                    <a:pt x="4144726" y="326353"/>
                    <a:pt x="4141297" y="334630"/>
                    <a:pt x="4135195" y="340732"/>
                  </a:cubicBezTo>
                  <a:cubicBezTo>
                    <a:pt x="4129092" y="346835"/>
                    <a:pt x="4120815" y="350263"/>
                    <a:pt x="4112185" y="350263"/>
                  </a:cubicBezTo>
                  <a:lnTo>
                    <a:pt x="32541" y="350263"/>
                  </a:lnTo>
                  <a:cubicBezTo>
                    <a:pt x="14569" y="350263"/>
                    <a:pt x="0" y="335694"/>
                    <a:pt x="0" y="317722"/>
                  </a:cubicBezTo>
                  <a:lnTo>
                    <a:pt x="0" y="32541"/>
                  </a:lnTo>
                  <a:cubicBezTo>
                    <a:pt x="0" y="14569"/>
                    <a:pt x="14569" y="0"/>
                    <a:pt x="32541"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txBox="1"/>
            <p:nvPr/>
          </p:nvSpPr>
          <p:spPr>
            <a:xfrm>
              <a:off x="0" y="-38100"/>
              <a:ext cx="4144800" cy="388500"/>
            </a:xfrm>
            <a:prstGeom prst="rect">
              <a:avLst/>
            </a:prstGeom>
            <a:noFill/>
            <a:ln>
              <a:noFill/>
            </a:ln>
          </p:spPr>
          <p:txBody>
            <a:bodyPr anchorCtr="0" anchor="ctr" bIns="50800" lIns="50800" spcFirstLastPara="1" rIns="50800" wrap="square" tIns="50800">
              <a:noAutofit/>
            </a:bodyPr>
            <a:lstStyle/>
            <a:p>
              <a:pPr indent="457200" lvl="0" marL="0" rtl="0" algn="l">
                <a:lnSpc>
                  <a:spcPct val="147722"/>
                </a:lnSpc>
                <a:spcBef>
                  <a:spcPts val="0"/>
                </a:spcBef>
                <a:spcAft>
                  <a:spcPts val="0"/>
                </a:spcAft>
                <a:buSzPts val="1100"/>
                <a:buNone/>
              </a:pPr>
              <a:r>
                <a:rPr lang="en-US" sz="3000">
                  <a:solidFill>
                    <a:schemeClr val="dk1"/>
                  </a:solidFill>
                  <a:latin typeface="Montserrat"/>
                  <a:ea typeface="Montserrat"/>
                  <a:cs typeface="Montserrat"/>
                  <a:sym typeface="Montserrat"/>
                </a:rPr>
                <a:t>3</a:t>
              </a:r>
              <a:r>
                <a:rPr lang="en-US" sz="3000">
                  <a:solidFill>
                    <a:schemeClr val="dk1"/>
                  </a:solidFill>
                  <a:latin typeface="Montserrat"/>
                  <a:ea typeface="Montserrat"/>
                  <a:cs typeface="Montserrat"/>
                  <a:sym typeface="Montserrat"/>
                </a:rPr>
                <a:t>. Methodology &amp; EDA</a:t>
              </a:r>
              <a:endParaRPr sz="1800">
                <a:solidFill>
                  <a:schemeClr val="dk1"/>
                </a:solidFill>
                <a:latin typeface="Calibri"/>
                <a:ea typeface="Calibri"/>
                <a:cs typeface="Calibri"/>
                <a:sym typeface="Calibri"/>
              </a:endParaRPr>
            </a:p>
          </p:txBody>
        </p:sp>
      </p:grpSp>
      <p:grpSp>
        <p:nvGrpSpPr>
          <p:cNvPr id="111" name="Google Shape;111;p14"/>
          <p:cNvGrpSpPr/>
          <p:nvPr/>
        </p:nvGrpSpPr>
        <p:grpSpPr>
          <a:xfrm>
            <a:off x="1028700" y="6017222"/>
            <a:ext cx="12084993" cy="1066122"/>
            <a:chOff x="0" y="-38100"/>
            <a:chExt cx="4144800" cy="388500"/>
          </a:xfrm>
        </p:grpSpPr>
        <p:sp>
          <p:nvSpPr>
            <p:cNvPr id="112" name="Google Shape;112;p14"/>
            <p:cNvSpPr/>
            <p:nvPr/>
          </p:nvSpPr>
          <p:spPr>
            <a:xfrm>
              <a:off x="0" y="0"/>
              <a:ext cx="4144726" cy="350263"/>
            </a:xfrm>
            <a:custGeom>
              <a:rect b="b" l="l" r="r" t="t"/>
              <a:pathLst>
                <a:path extrusionOk="0" h="350263" w="4144726">
                  <a:moveTo>
                    <a:pt x="32541" y="0"/>
                  </a:moveTo>
                  <a:lnTo>
                    <a:pt x="4112185" y="0"/>
                  </a:lnTo>
                  <a:cubicBezTo>
                    <a:pt x="4130157" y="0"/>
                    <a:pt x="4144726" y="14569"/>
                    <a:pt x="4144726" y="32541"/>
                  </a:cubicBezTo>
                  <a:lnTo>
                    <a:pt x="4144726" y="317722"/>
                  </a:lnTo>
                  <a:cubicBezTo>
                    <a:pt x="4144726" y="326353"/>
                    <a:pt x="4141297" y="334630"/>
                    <a:pt x="4135195" y="340732"/>
                  </a:cubicBezTo>
                  <a:cubicBezTo>
                    <a:pt x="4129092" y="346835"/>
                    <a:pt x="4120815" y="350263"/>
                    <a:pt x="4112185" y="350263"/>
                  </a:cubicBezTo>
                  <a:lnTo>
                    <a:pt x="32541" y="350263"/>
                  </a:lnTo>
                  <a:cubicBezTo>
                    <a:pt x="14569" y="350263"/>
                    <a:pt x="0" y="335694"/>
                    <a:pt x="0" y="317722"/>
                  </a:cubicBezTo>
                  <a:lnTo>
                    <a:pt x="0" y="32541"/>
                  </a:lnTo>
                  <a:cubicBezTo>
                    <a:pt x="0" y="14569"/>
                    <a:pt x="14569" y="0"/>
                    <a:pt x="32541"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txBox="1"/>
            <p:nvPr/>
          </p:nvSpPr>
          <p:spPr>
            <a:xfrm>
              <a:off x="0" y="-38100"/>
              <a:ext cx="4144800" cy="388500"/>
            </a:xfrm>
            <a:prstGeom prst="rect">
              <a:avLst/>
            </a:prstGeom>
            <a:noFill/>
            <a:ln>
              <a:noFill/>
            </a:ln>
          </p:spPr>
          <p:txBody>
            <a:bodyPr anchorCtr="0" anchor="ctr" bIns="50800" lIns="50800" spcFirstLastPara="1" rIns="50800" wrap="square" tIns="50800">
              <a:noAutofit/>
            </a:bodyPr>
            <a:lstStyle/>
            <a:p>
              <a:pPr indent="457200" lvl="0" marL="0" rtl="0" algn="l">
                <a:lnSpc>
                  <a:spcPct val="147722"/>
                </a:lnSpc>
                <a:spcBef>
                  <a:spcPts val="0"/>
                </a:spcBef>
                <a:spcAft>
                  <a:spcPts val="0"/>
                </a:spcAft>
                <a:buSzPts val="1100"/>
                <a:buNone/>
              </a:pPr>
              <a:r>
                <a:rPr lang="en-US" sz="3000">
                  <a:solidFill>
                    <a:schemeClr val="dk1"/>
                  </a:solidFill>
                  <a:latin typeface="Montserrat"/>
                  <a:ea typeface="Montserrat"/>
                  <a:cs typeface="Montserrat"/>
                  <a:sym typeface="Montserrat"/>
                </a:rPr>
                <a:t>4</a:t>
              </a:r>
              <a:r>
                <a:rPr lang="en-US" sz="3000">
                  <a:solidFill>
                    <a:schemeClr val="dk1"/>
                  </a:solidFill>
                  <a:latin typeface="Montserrat"/>
                  <a:ea typeface="Montserrat"/>
                  <a:cs typeface="Montserrat"/>
                  <a:sym typeface="Montserrat"/>
                </a:rPr>
                <a:t>. Good Statistics: Modelling</a:t>
              </a:r>
              <a:endParaRPr sz="1800">
                <a:solidFill>
                  <a:schemeClr val="dk1"/>
                </a:solidFill>
                <a:latin typeface="Calibri"/>
                <a:ea typeface="Calibri"/>
                <a:cs typeface="Calibri"/>
                <a:sym typeface="Calibri"/>
              </a:endParaRPr>
            </a:p>
          </p:txBody>
        </p:sp>
      </p:grpSp>
      <p:grpSp>
        <p:nvGrpSpPr>
          <p:cNvPr id="114" name="Google Shape;114;p14"/>
          <p:cNvGrpSpPr/>
          <p:nvPr/>
        </p:nvGrpSpPr>
        <p:grpSpPr>
          <a:xfrm>
            <a:off x="1028700" y="7257730"/>
            <a:ext cx="12084993" cy="1066122"/>
            <a:chOff x="0" y="-38100"/>
            <a:chExt cx="4144800" cy="388500"/>
          </a:xfrm>
        </p:grpSpPr>
        <p:sp>
          <p:nvSpPr>
            <p:cNvPr id="115" name="Google Shape;115;p14"/>
            <p:cNvSpPr/>
            <p:nvPr/>
          </p:nvSpPr>
          <p:spPr>
            <a:xfrm>
              <a:off x="0" y="0"/>
              <a:ext cx="4144726" cy="350263"/>
            </a:xfrm>
            <a:custGeom>
              <a:rect b="b" l="l" r="r" t="t"/>
              <a:pathLst>
                <a:path extrusionOk="0" h="350263" w="4144726">
                  <a:moveTo>
                    <a:pt x="32541" y="0"/>
                  </a:moveTo>
                  <a:lnTo>
                    <a:pt x="4112185" y="0"/>
                  </a:lnTo>
                  <a:cubicBezTo>
                    <a:pt x="4130157" y="0"/>
                    <a:pt x="4144726" y="14569"/>
                    <a:pt x="4144726" y="32541"/>
                  </a:cubicBezTo>
                  <a:lnTo>
                    <a:pt x="4144726" y="317722"/>
                  </a:lnTo>
                  <a:cubicBezTo>
                    <a:pt x="4144726" y="326353"/>
                    <a:pt x="4141297" y="334630"/>
                    <a:pt x="4135195" y="340732"/>
                  </a:cubicBezTo>
                  <a:cubicBezTo>
                    <a:pt x="4129092" y="346835"/>
                    <a:pt x="4120815" y="350263"/>
                    <a:pt x="4112185" y="350263"/>
                  </a:cubicBezTo>
                  <a:lnTo>
                    <a:pt x="32541" y="350263"/>
                  </a:lnTo>
                  <a:cubicBezTo>
                    <a:pt x="14569" y="350263"/>
                    <a:pt x="0" y="335694"/>
                    <a:pt x="0" y="317722"/>
                  </a:cubicBezTo>
                  <a:lnTo>
                    <a:pt x="0" y="32541"/>
                  </a:lnTo>
                  <a:cubicBezTo>
                    <a:pt x="0" y="14569"/>
                    <a:pt x="14569" y="0"/>
                    <a:pt x="32541"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4"/>
            <p:cNvSpPr txBox="1"/>
            <p:nvPr/>
          </p:nvSpPr>
          <p:spPr>
            <a:xfrm>
              <a:off x="0" y="-38100"/>
              <a:ext cx="4144800" cy="388500"/>
            </a:xfrm>
            <a:prstGeom prst="rect">
              <a:avLst/>
            </a:prstGeom>
            <a:noFill/>
            <a:ln>
              <a:noFill/>
            </a:ln>
          </p:spPr>
          <p:txBody>
            <a:bodyPr anchorCtr="0" anchor="ctr" bIns="50800" lIns="50800" spcFirstLastPara="1" rIns="50800" wrap="square" tIns="50800">
              <a:noAutofit/>
            </a:bodyPr>
            <a:lstStyle/>
            <a:p>
              <a:pPr indent="457200" lvl="0" marL="0" rtl="0" algn="l">
                <a:lnSpc>
                  <a:spcPct val="147722"/>
                </a:lnSpc>
                <a:spcBef>
                  <a:spcPts val="0"/>
                </a:spcBef>
                <a:spcAft>
                  <a:spcPts val="0"/>
                </a:spcAft>
                <a:buSzPts val="1100"/>
                <a:buNone/>
              </a:pPr>
              <a:r>
                <a:rPr lang="en-US" sz="3000">
                  <a:solidFill>
                    <a:schemeClr val="dk1"/>
                  </a:solidFill>
                  <a:latin typeface="Montserrat"/>
                  <a:ea typeface="Montserrat"/>
                  <a:cs typeface="Montserrat"/>
                  <a:sym typeface="Montserrat"/>
                </a:rPr>
                <a:t>5</a:t>
              </a:r>
              <a:r>
                <a:rPr lang="en-US" sz="3000">
                  <a:solidFill>
                    <a:schemeClr val="dk1"/>
                  </a:solidFill>
                  <a:latin typeface="Montserrat"/>
                  <a:ea typeface="Montserrat"/>
                  <a:cs typeface="Montserrat"/>
                  <a:sym typeface="Montserrat"/>
                </a:rPr>
                <a:t>. Bad Statistics</a:t>
              </a:r>
              <a:endParaRPr sz="1800">
                <a:solidFill>
                  <a:schemeClr val="dk1"/>
                </a:solidFill>
                <a:latin typeface="Calibri"/>
                <a:ea typeface="Calibri"/>
                <a:cs typeface="Calibri"/>
                <a:sym typeface="Calibri"/>
              </a:endParaRPr>
            </a:p>
          </p:txBody>
        </p:sp>
      </p:grpSp>
      <p:grpSp>
        <p:nvGrpSpPr>
          <p:cNvPr id="117" name="Google Shape;117;p14"/>
          <p:cNvGrpSpPr/>
          <p:nvPr/>
        </p:nvGrpSpPr>
        <p:grpSpPr>
          <a:xfrm>
            <a:off x="1028700" y="8498238"/>
            <a:ext cx="12084993" cy="1066122"/>
            <a:chOff x="0" y="-38100"/>
            <a:chExt cx="4144800" cy="388500"/>
          </a:xfrm>
        </p:grpSpPr>
        <p:sp>
          <p:nvSpPr>
            <p:cNvPr id="118" name="Google Shape;118;p14"/>
            <p:cNvSpPr/>
            <p:nvPr/>
          </p:nvSpPr>
          <p:spPr>
            <a:xfrm>
              <a:off x="0" y="0"/>
              <a:ext cx="4144726" cy="350263"/>
            </a:xfrm>
            <a:custGeom>
              <a:rect b="b" l="l" r="r" t="t"/>
              <a:pathLst>
                <a:path extrusionOk="0" h="350263" w="4144726">
                  <a:moveTo>
                    <a:pt x="32541" y="0"/>
                  </a:moveTo>
                  <a:lnTo>
                    <a:pt x="4112185" y="0"/>
                  </a:lnTo>
                  <a:cubicBezTo>
                    <a:pt x="4130157" y="0"/>
                    <a:pt x="4144726" y="14569"/>
                    <a:pt x="4144726" y="32541"/>
                  </a:cubicBezTo>
                  <a:lnTo>
                    <a:pt x="4144726" y="317722"/>
                  </a:lnTo>
                  <a:cubicBezTo>
                    <a:pt x="4144726" y="326353"/>
                    <a:pt x="4141297" y="334630"/>
                    <a:pt x="4135195" y="340732"/>
                  </a:cubicBezTo>
                  <a:cubicBezTo>
                    <a:pt x="4129092" y="346835"/>
                    <a:pt x="4120815" y="350263"/>
                    <a:pt x="4112185" y="350263"/>
                  </a:cubicBezTo>
                  <a:lnTo>
                    <a:pt x="32541" y="350263"/>
                  </a:lnTo>
                  <a:cubicBezTo>
                    <a:pt x="14569" y="350263"/>
                    <a:pt x="0" y="335694"/>
                    <a:pt x="0" y="317722"/>
                  </a:cubicBezTo>
                  <a:lnTo>
                    <a:pt x="0" y="32541"/>
                  </a:lnTo>
                  <a:cubicBezTo>
                    <a:pt x="0" y="14569"/>
                    <a:pt x="14569" y="0"/>
                    <a:pt x="32541"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txBox="1"/>
            <p:nvPr/>
          </p:nvSpPr>
          <p:spPr>
            <a:xfrm>
              <a:off x="0" y="-38100"/>
              <a:ext cx="4144800" cy="388500"/>
            </a:xfrm>
            <a:prstGeom prst="rect">
              <a:avLst/>
            </a:prstGeom>
            <a:noFill/>
            <a:ln>
              <a:noFill/>
            </a:ln>
          </p:spPr>
          <p:txBody>
            <a:bodyPr anchorCtr="0" anchor="ctr" bIns="50800" lIns="50800" spcFirstLastPara="1" rIns="50800" wrap="square" tIns="50800">
              <a:noAutofit/>
            </a:bodyPr>
            <a:lstStyle/>
            <a:p>
              <a:pPr indent="457200" lvl="0" marL="0" rtl="0" algn="l">
                <a:lnSpc>
                  <a:spcPct val="147722"/>
                </a:lnSpc>
                <a:spcBef>
                  <a:spcPts val="0"/>
                </a:spcBef>
                <a:spcAft>
                  <a:spcPts val="0"/>
                </a:spcAft>
                <a:buSzPts val="1100"/>
                <a:buNone/>
              </a:pPr>
              <a:r>
                <a:rPr lang="en-US" sz="3000">
                  <a:solidFill>
                    <a:schemeClr val="dk1"/>
                  </a:solidFill>
                  <a:latin typeface="Montserrat"/>
                  <a:ea typeface="Montserrat"/>
                  <a:cs typeface="Montserrat"/>
                  <a:sym typeface="Montserrat"/>
                </a:rPr>
                <a:t>6</a:t>
              </a:r>
              <a:r>
                <a:rPr lang="en-US" sz="3000">
                  <a:solidFill>
                    <a:schemeClr val="dk1"/>
                  </a:solidFill>
                  <a:latin typeface="Montserrat"/>
                  <a:ea typeface="Montserrat"/>
                  <a:cs typeface="Montserrat"/>
                  <a:sym typeface="Montserrat"/>
                </a:rPr>
                <a:t>. Conclusions + Recommendations</a:t>
              </a:r>
              <a:endParaRPr sz="1800">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123" name="Shape 123"/>
        <p:cNvGrpSpPr/>
        <p:nvPr/>
      </p:nvGrpSpPr>
      <p:grpSpPr>
        <a:xfrm>
          <a:off x="0" y="0"/>
          <a:ext cx="0" cy="0"/>
          <a:chOff x="0" y="0"/>
          <a:chExt cx="0" cy="0"/>
        </a:xfrm>
      </p:grpSpPr>
      <p:grpSp>
        <p:nvGrpSpPr>
          <p:cNvPr id="124" name="Google Shape;124;p15"/>
          <p:cNvGrpSpPr/>
          <p:nvPr/>
        </p:nvGrpSpPr>
        <p:grpSpPr>
          <a:xfrm>
            <a:off x="-1147115" y="0"/>
            <a:ext cx="20582229" cy="10287000"/>
            <a:chOff x="0" y="0"/>
            <a:chExt cx="27442972" cy="13716000"/>
          </a:xfrm>
        </p:grpSpPr>
        <p:sp>
          <p:nvSpPr>
            <p:cNvPr id="125" name="Google Shape;125;p15"/>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126" name="Google Shape;126;p15"/>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127" name="Google Shape;127;p15"/>
          <p:cNvGrpSpPr/>
          <p:nvPr/>
        </p:nvGrpSpPr>
        <p:grpSpPr>
          <a:xfrm>
            <a:off x="223625" y="7083661"/>
            <a:ext cx="2046133" cy="1730778"/>
            <a:chOff x="0" y="-38100"/>
            <a:chExt cx="2588731" cy="588000"/>
          </a:xfrm>
        </p:grpSpPr>
        <p:sp>
          <p:nvSpPr>
            <p:cNvPr id="128" name="Google Shape;128;p15"/>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b="1" lang="en-US" sz="10000">
                  <a:solidFill>
                    <a:srgbClr val="D34937"/>
                  </a:solidFill>
                  <a:latin typeface="Lexend"/>
                  <a:ea typeface="Lexend"/>
                  <a:cs typeface="Lexend"/>
                  <a:sym typeface="Lexend"/>
                </a:rPr>
                <a:t>1</a:t>
              </a:r>
              <a:endParaRPr sz="10000">
                <a:solidFill>
                  <a:schemeClr val="dk1"/>
                </a:solidFill>
                <a:latin typeface="Calibri"/>
                <a:ea typeface="Calibri"/>
                <a:cs typeface="Calibri"/>
                <a:sym typeface="Calibri"/>
              </a:endParaRPr>
            </a:p>
          </p:txBody>
        </p:sp>
      </p:grpSp>
      <p:sp>
        <p:nvSpPr>
          <p:cNvPr id="130" name="Google Shape;130;p15"/>
          <p:cNvSpPr txBox="1"/>
          <p:nvPr/>
        </p:nvSpPr>
        <p:spPr>
          <a:xfrm>
            <a:off x="2515550" y="7179400"/>
            <a:ext cx="163914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0000">
                <a:solidFill>
                  <a:srgbClr val="D34937"/>
                </a:solidFill>
                <a:latin typeface="Lexend"/>
                <a:ea typeface="Lexend"/>
                <a:cs typeface="Lexend"/>
                <a:sym typeface="Lexend"/>
              </a:rPr>
              <a:t>Introduction &amp; Abstract</a:t>
            </a:r>
            <a:endParaRPr b="1" sz="10000">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134" name="Shape 134"/>
        <p:cNvGrpSpPr/>
        <p:nvPr/>
      </p:nvGrpSpPr>
      <p:grpSpPr>
        <a:xfrm>
          <a:off x="0" y="0"/>
          <a:ext cx="0" cy="0"/>
          <a:chOff x="0" y="0"/>
          <a:chExt cx="0" cy="0"/>
        </a:xfrm>
      </p:grpSpPr>
      <p:grpSp>
        <p:nvGrpSpPr>
          <p:cNvPr id="135" name="Google Shape;135;p16"/>
          <p:cNvGrpSpPr/>
          <p:nvPr/>
        </p:nvGrpSpPr>
        <p:grpSpPr>
          <a:xfrm>
            <a:off x="-1147115" y="0"/>
            <a:ext cx="20582229" cy="10287000"/>
            <a:chOff x="0" y="0"/>
            <a:chExt cx="27442972" cy="13716000"/>
          </a:xfrm>
        </p:grpSpPr>
        <p:sp>
          <p:nvSpPr>
            <p:cNvPr id="136" name="Google Shape;136;p16"/>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137" name="Google Shape;137;p16"/>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138" name="Google Shape;138;p16"/>
          <p:cNvGrpSpPr/>
          <p:nvPr/>
        </p:nvGrpSpPr>
        <p:grpSpPr>
          <a:xfrm>
            <a:off x="1028700" y="582976"/>
            <a:ext cx="14168125" cy="1393913"/>
            <a:chOff x="0" y="-38100"/>
            <a:chExt cx="2588731" cy="588000"/>
          </a:xfrm>
        </p:grpSpPr>
        <p:sp>
          <p:nvSpPr>
            <p:cNvPr id="139" name="Google Shape;139;p16"/>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 name="Google Shape;141;p16"/>
          <p:cNvSpPr txBox="1"/>
          <p:nvPr/>
        </p:nvSpPr>
        <p:spPr>
          <a:xfrm>
            <a:off x="1703306" y="869700"/>
            <a:ext cx="157677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000">
                <a:solidFill>
                  <a:srgbClr val="D34937"/>
                </a:solidFill>
                <a:latin typeface="Lexend"/>
                <a:ea typeface="Lexend"/>
                <a:cs typeface="Lexend"/>
                <a:sym typeface="Lexend"/>
              </a:rPr>
              <a:t>Background &amp; Problem Statement</a:t>
            </a:r>
            <a:endParaRPr b="1" sz="6000">
              <a:latin typeface="Lexend"/>
              <a:ea typeface="Lexend"/>
              <a:cs typeface="Lexend"/>
              <a:sym typeface="Lexend"/>
            </a:endParaRPr>
          </a:p>
        </p:txBody>
      </p:sp>
      <p:sp>
        <p:nvSpPr>
          <p:cNvPr id="142" name="Google Shape;142;p16"/>
          <p:cNvSpPr txBox="1"/>
          <p:nvPr>
            <p:ph idx="1" type="body"/>
          </p:nvPr>
        </p:nvSpPr>
        <p:spPr>
          <a:xfrm>
            <a:off x="1642725" y="2667000"/>
            <a:ext cx="6699600" cy="6769800"/>
          </a:xfrm>
          <a:prstGeom prst="rect">
            <a:avLst/>
          </a:prstGeom>
        </p:spPr>
        <p:txBody>
          <a:bodyPr anchorCtr="0" anchor="t" bIns="45700" lIns="91425" spcFirstLastPara="1" rIns="91425" wrap="square" tIns="45700">
            <a:normAutofit/>
          </a:bodyPr>
          <a:lstStyle/>
          <a:p>
            <a:pPr indent="0" lvl="0" marL="0" rtl="0" algn="ctr">
              <a:spcBef>
                <a:spcPts val="560"/>
              </a:spcBef>
              <a:spcAft>
                <a:spcPts val="0"/>
              </a:spcAft>
              <a:buNone/>
            </a:pPr>
            <a:r>
              <a:rPr i="1" lang="en-US" u="sng">
                <a:latin typeface="Montserrat"/>
                <a:ea typeface="Montserrat"/>
                <a:cs typeface="Montserrat"/>
                <a:sym typeface="Montserrat"/>
              </a:rPr>
              <a:t>Background</a:t>
            </a:r>
            <a:endParaRPr i="1" u="sng">
              <a:latin typeface="Montserrat"/>
              <a:ea typeface="Montserrat"/>
              <a:cs typeface="Montserrat"/>
              <a:sym typeface="Montserrat"/>
            </a:endParaRPr>
          </a:p>
          <a:p>
            <a:pPr indent="0" lvl="0" marL="0" rtl="0" algn="ctr">
              <a:spcBef>
                <a:spcPts val="560"/>
              </a:spcBef>
              <a:spcAft>
                <a:spcPts val="0"/>
              </a:spcAft>
              <a:buNone/>
            </a:pPr>
            <a:r>
              <a:t/>
            </a:r>
            <a:endParaRPr i="1" u="sng">
              <a:latin typeface="Montserrat"/>
              <a:ea typeface="Montserrat"/>
              <a:cs typeface="Montserrat"/>
              <a:sym typeface="Montserrat"/>
            </a:endParaRPr>
          </a:p>
          <a:p>
            <a:pPr indent="-406400" lvl="0" marL="457200" rtl="0" algn="l">
              <a:spcBef>
                <a:spcPts val="560"/>
              </a:spcBef>
              <a:spcAft>
                <a:spcPts val="0"/>
              </a:spcAft>
              <a:buSzPts val="2800"/>
              <a:buFont typeface="Montserrat"/>
              <a:buChar char="●"/>
            </a:pPr>
            <a:r>
              <a:rPr lang="en-US">
                <a:latin typeface="Montserrat"/>
                <a:ea typeface="Montserrat"/>
                <a:cs typeface="Montserrat"/>
                <a:sym typeface="Montserrat"/>
              </a:rPr>
              <a:t>Can human babies’ cries give information about their underlying cause? </a:t>
            </a:r>
            <a:endParaRPr>
              <a:latin typeface="Montserrat"/>
              <a:ea typeface="Montserrat"/>
              <a:cs typeface="Montserrat"/>
              <a:sym typeface="Montserrat"/>
            </a:endParaRPr>
          </a:p>
          <a:p>
            <a:pPr indent="0" lvl="0" marL="0" rtl="0" algn="ctr">
              <a:spcBef>
                <a:spcPts val="560"/>
              </a:spcBef>
              <a:spcAft>
                <a:spcPts val="0"/>
              </a:spcAft>
              <a:buNone/>
            </a:pPr>
            <a:r>
              <a:t/>
            </a:r>
            <a:endParaRPr>
              <a:latin typeface="Montserrat"/>
              <a:ea typeface="Montserrat"/>
              <a:cs typeface="Montserrat"/>
              <a:sym typeface="Montserrat"/>
            </a:endParaRPr>
          </a:p>
          <a:p>
            <a:pPr indent="-406400" lvl="0" marL="457200" rtl="0" algn="l">
              <a:spcBef>
                <a:spcPts val="560"/>
              </a:spcBef>
              <a:spcAft>
                <a:spcPts val="0"/>
              </a:spcAft>
              <a:buSzPts val="2800"/>
              <a:buFont typeface="Montserrat"/>
              <a:buChar char="●"/>
            </a:pPr>
            <a:r>
              <a:rPr lang="en-US">
                <a:latin typeface="Montserrat"/>
                <a:ea typeface="Montserrat"/>
                <a:cs typeface="Montserrat"/>
                <a:sym typeface="Montserrat"/>
              </a:rPr>
              <a:t>Understanding the emotions of a baby–tiredness, hunger, discomfort, or pain is importance in </a:t>
            </a:r>
            <a:r>
              <a:rPr b="1" lang="en-US">
                <a:latin typeface="Montserrat"/>
                <a:ea typeface="Montserrat"/>
                <a:cs typeface="Montserrat"/>
                <a:sym typeface="Montserrat"/>
              </a:rPr>
              <a:t>communication</a:t>
            </a:r>
            <a:r>
              <a:rPr lang="en-US">
                <a:latin typeface="Montserrat"/>
                <a:ea typeface="Montserrat"/>
                <a:cs typeface="Montserrat"/>
                <a:sym typeface="Montserrat"/>
              </a:rPr>
              <a:t> and </a:t>
            </a:r>
            <a:r>
              <a:rPr b="1" lang="en-US">
                <a:latin typeface="Montserrat"/>
                <a:ea typeface="Montserrat"/>
                <a:cs typeface="Montserrat"/>
                <a:sym typeface="Montserrat"/>
              </a:rPr>
              <a:t>intervention</a:t>
            </a:r>
            <a:r>
              <a:rPr lang="en-US">
                <a:latin typeface="Montserrat"/>
                <a:ea typeface="Montserrat"/>
                <a:cs typeface="Montserrat"/>
                <a:sym typeface="Montserrat"/>
              </a:rPr>
              <a:t>, especially because babies are unable to convey their needs and emotions through spoken language</a:t>
            </a:r>
            <a:endParaRPr>
              <a:latin typeface="Montserrat"/>
              <a:ea typeface="Montserrat"/>
              <a:cs typeface="Montserrat"/>
              <a:sym typeface="Montserrat"/>
            </a:endParaRPr>
          </a:p>
        </p:txBody>
      </p:sp>
      <p:sp>
        <p:nvSpPr>
          <p:cNvPr id="143" name="Google Shape;143;p16"/>
          <p:cNvSpPr txBox="1"/>
          <p:nvPr>
            <p:ph idx="1" type="body"/>
          </p:nvPr>
        </p:nvSpPr>
        <p:spPr>
          <a:xfrm>
            <a:off x="9991775" y="2667000"/>
            <a:ext cx="6699600" cy="6769800"/>
          </a:xfrm>
          <a:prstGeom prst="rect">
            <a:avLst/>
          </a:prstGeom>
        </p:spPr>
        <p:txBody>
          <a:bodyPr anchorCtr="0" anchor="t" bIns="45700" lIns="91425" spcFirstLastPara="1" rIns="91425" wrap="square" tIns="45700">
            <a:normAutofit/>
          </a:bodyPr>
          <a:lstStyle/>
          <a:p>
            <a:pPr indent="0" lvl="0" marL="0" rtl="0" algn="ctr">
              <a:spcBef>
                <a:spcPts val="560"/>
              </a:spcBef>
              <a:spcAft>
                <a:spcPts val="0"/>
              </a:spcAft>
              <a:buNone/>
            </a:pPr>
            <a:r>
              <a:rPr i="1" lang="en-US" u="sng">
                <a:latin typeface="Montserrat"/>
                <a:ea typeface="Montserrat"/>
                <a:cs typeface="Montserrat"/>
                <a:sym typeface="Montserrat"/>
              </a:rPr>
              <a:t>Aim</a:t>
            </a:r>
            <a:endParaRPr i="1" u="sng">
              <a:latin typeface="Montserrat"/>
              <a:ea typeface="Montserrat"/>
              <a:cs typeface="Montserrat"/>
              <a:sym typeface="Montserrat"/>
            </a:endParaRPr>
          </a:p>
          <a:p>
            <a:pPr indent="0" lvl="0" marL="0" rtl="0" algn="ctr">
              <a:spcBef>
                <a:spcPts val="560"/>
              </a:spcBef>
              <a:spcAft>
                <a:spcPts val="0"/>
              </a:spcAft>
              <a:buNone/>
            </a:pPr>
            <a:r>
              <a:t/>
            </a:r>
            <a:endParaRPr i="1" u="sng">
              <a:latin typeface="Montserrat"/>
              <a:ea typeface="Montserrat"/>
              <a:cs typeface="Montserrat"/>
              <a:sym typeface="Montserrat"/>
            </a:endParaRPr>
          </a:p>
          <a:p>
            <a:pPr indent="-406400" lvl="0" marL="457200" rtl="0" algn="l">
              <a:spcBef>
                <a:spcPts val="560"/>
              </a:spcBef>
              <a:spcAft>
                <a:spcPts val="0"/>
              </a:spcAft>
              <a:buSzPts val="2800"/>
              <a:buFont typeface="Montserrat"/>
              <a:buChar char="●"/>
            </a:pPr>
            <a:r>
              <a:rPr lang="en-US">
                <a:latin typeface="Montserrat"/>
                <a:ea typeface="Montserrat"/>
                <a:cs typeface="Montserrat"/>
                <a:sym typeface="Montserrat"/>
              </a:rPr>
              <a:t>By analysing data about the acoustic features of baby cries, we aim to understand whether or not we can extract information about the cause of a baby cry.</a:t>
            </a:r>
            <a:endParaRPr>
              <a:latin typeface="Montserrat"/>
              <a:ea typeface="Montserrat"/>
              <a:cs typeface="Montserrat"/>
              <a:sym typeface="Montserrat"/>
            </a:endParaRPr>
          </a:p>
          <a:p>
            <a:pPr indent="0" lvl="0" marL="0" rtl="0" algn="l">
              <a:spcBef>
                <a:spcPts val="560"/>
              </a:spcBef>
              <a:spcAft>
                <a:spcPts val="0"/>
              </a:spcAft>
              <a:buNone/>
            </a:pPr>
            <a:r>
              <a:t/>
            </a:r>
            <a:endParaRPr>
              <a:latin typeface="Montserrat"/>
              <a:ea typeface="Montserrat"/>
              <a:cs typeface="Montserrat"/>
              <a:sym typeface="Montserrat"/>
            </a:endParaRPr>
          </a:p>
          <a:p>
            <a:pPr indent="-406400" lvl="0" marL="457200" rtl="0" algn="l">
              <a:spcBef>
                <a:spcPts val="560"/>
              </a:spcBef>
              <a:spcAft>
                <a:spcPts val="0"/>
              </a:spcAft>
              <a:buSzPts val="2800"/>
              <a:buFont typeface="Montserrat"/>
              <a:buChar char="●"/>
            </a:pPr>
            <a:r>
              <a:rPr lang="en-US">
                <a:latin typeface="Montserrat"/>
                <a:ea typeface="Montserrat"/>
                <a:cs typeface="Montserrat"/>
                <a:sym typeface="Montserrat"/>
              </a:rPr>
              <a:t>We train and test different models (including Logistic, KNN, Random Forest, and SVM) on our data to check classification accuracy</a:t>
            </a:r>
            <a:endParaRPr>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147" name="Shape 147"/>
        <p:cNvGrpSpPr/>
        <p:nvPr/>
      </p:nvGrpSpPr>
      <p:grpSpPr>
        <a:xfrm>
          <a:off x="0" y="0"/>
          <a:ext cx="0" cy="0"/>
          <a:chOff x="0" y="0"/>
          <a:chExt cx="0" cy="0"/>
        </a:xfrm>
      </p:grpSpPr>
      <p:grpSp>
        <p:nvGrpSpPr>
          <p:cNvPr id="148" name="Google Shape;148;p17"/>
          <p:cNvGrpSpPr/>
          <p:nvPr/>
        </p:nvGrpSpPr>
        <p:grpSpPr>
          <a:xfrm>
            <a:off x="-1147115" y="0"/>
            <a:ext cx="20582229" cy="10287000"/>
            <a:chOff x="0" y="0"/>
            <a:chExt cx="27442972" cy="13716000"/>
          </a:xfrm>
        </p:grpSpPr>
        <p:sp>
          <p:nvSpPr>
            <p:cNvPr id="149" name="Google Shape;149;p17"/>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150" name="Google Shape;150;p17"/>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151" name="Google Shape;151;p17"/>
          <p:cNvGrpSpPr/>
          <p:nvPr/>
        </p:nvGrpSpPr>
        <p:grpSpPr>
          <a:xfrm>
            <a:off x="1028700" y="582976"/>
            <a:ext cx="10893121" cy="1393913"/>
            <a:chOff x="0" y="-38100"/>
            <a:chExt cx="2588731" cy="588000"/>
          </a:xfrm>
        </p:grpSpPr>
        <p:sp>
          <p:nvSpPr>
            <p:cNvPr id="152" name="Google Shape;152;p17"/>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7"/>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4" name="Google Shape;154;p17"/>
          <p:cNvSpPr txBox="1"/>
          <p:nvPr/>
        </p:nvSpPr>
        <p:spPr>
          <a:xfrm>
            <a:off x="1703306" y="869700"/>
            <a:ext cx="157677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000">
                <a:solidFill>
                  <a:srgbClr val="D34937"/>
                </a:solidFill>
                <a:latin typeface="Lexend"/>
                <a:ea typeface="Lexend"/>
                <a:cs typeface="Lexend"/>
                <a:sym typeface="Lexend"/>
              </a:rPr>
              <a:t>Introduction to the Data</a:t>
            </a:r>
            <a:endParaRPr b="1" sz="6000">
              <a:latin typeface="Lexend"/>
              <a:ea typeface="Lexend"/>
              <a:cs typeface="Lexend"/>
              <a:sym typeface="Lexend"/>
            </a:endParaRPr>
          </a:p>
        </p:txBody>
      </p:sp>
      <p:grpSp>
        <p:nvGrpSpPr>
          <p:cNvPr id="155" name="Google Shape;155;p17"/>
          <p:cNvGrpSpPr/>
          <p:nvPr/>
        </p:nvGrpSpPr>
        <p:grpSpPr>
          <a:xfrm>
            <a:off x="234050" y="3072027"/>
            <a:ext cx="9239181" cy="3483371"/>
            <a:chOff x="0" y="-38100"/>
            <a:chExt cx="2588731" cy="588000"/>
          </a:xfrm>
        </p:grpSpPr>
        <p:sp>
          <p:nvSpPr>
            <p:cNvPr id="156" name="Google Shape;156;p17"/>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7"/>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8" name="Google Shape;158;p17"/>
          <p:cNvGrpSpPr/>
          <p:nvPr/>
        </p:nvGrpSpPr>
        <p:grpSpPr>
          <a:xfrm>
            <a:off x="9718775" y="3072050"/>
            <a:ext cx="7752214" cy="3483371"/>
            <a:chOff x="0" y="-38100"/>
            <a:chExt cx="2588731" cy="588000"/>
          </a:xfrm>
        </p:grpSpPr>
        <p:sp>
          <p:nvSpPr>
            <p:cNvPr id="159" name="Google Shape;159;p17"/>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7"/>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1" name="Google Shape;161;p17"/>
          <p:cNvSpPr txBox="1"/>
          <p:nvPr>
            <p:ph idx="1" type="body"/>
          </p:nvPr>
        </p:nvSpPr>
        <p:spPr>
          <a:xfrm>
            <a:off x="1642725" y="2667000"/>
            <a:ext cx="6699600" cy="576300"/>
          </a:xfrm>
          <a:prstGeom prst="rect">
            <a:avLst/>
          </a:prstGeom>
        </p:spPr>
        <p:txBody>
          <a:bodyPr anchorCtr="0" anchor="t" bIns="45700" lIns="91425" spcFirstLastPara="1" rIns="91425" wrap="square" tIns="45700">
            <a:normAutofit/>
          </a:bodyPr>
          <a:lstStyle/>
          <a:p>
            <a:pPr indent="-406400" lvl="0" marL="457200" rtl="0" algn="ctr">
              <a:spcBef>
                <a:spcPts val="560"/>
              </a:spcBef>
              <a:spcAft>
                <a:spcPts val="0"/>
              </a:spcAft>
              <a:buSzPts val="2800"/>
              <a:buFont typeface="Montserrat"/>
              <a:buAutoNum type="arabicPeriod"/>
            </a:pPr>
            <a:r>
              <a:rPr lang="en-US" u="sng">
                <a:latin typeface="Montserrat"/>
                <a:ea typeface="Montserrat"/>
                <a:cs typeface="Montserrat"/>
                <a:sym typeface="Montserrat"/>
              </a:rPr>
              <a:t>Cry Detection Classifications</a:t>
            </a:r>
            <a:endParaRPr>
              <a:latin typeface="Montserrat"/>
              <a:ea typeface="Montserrat"/>
              <a:cs typeface="Montserrat"/>
              <a:sym typeface="Montserrat"/>
            </a:endParaRPr>
          </a:p>
        </p:txBody>
      </p:sp>
      <p:sp>
        <p:nvSpPr>
          <p:cNvPr id="162" name="Google Shape;162;p17"/>
          <p:cNvSpPr txBox="1"/>
          <p:nvPr>
            <p:ph idx="1" type="body"/>
          </p:nvPr>
        </p:nvSpPr>
        <p:spPr>
          <a:xfrm>
            <a:off x="10245088" y="2667000"/>
            <a:ext cx="6699600" cy="576300"/>
          </a:xfrm>
          <a:prstGeom prst="rect">
            <a:avLst/>
          </a:prstGeom>
        </p:spPr>
        <p:txBody>
          <a:bodyPr anchorCtr="0" anchor="t" bIns="45700" lIns="91425" spcFirstLastPara="1" rIns="91425" wrap="square" tIns="45700">
            <a:normAutofit/>
          </a:bodyPr>
          <a:lstStyle/>
          <a:p>
            <a:pPr indent="457200" lvl="0" marL="457200" rtl="0" algn="l">
              <a:spcBef>
                <a:spcPts val="560"/>
              </a:spcBef>
              <a:spcAft>
                <a:spcPts val="0"/>
              </a:spcAft>
              <a:buNone/>
            </a:pPr>
            <a:r>
              <a:rPr lang="en-US">
                <a:latin typeface="Montserrat"/>
                <a:ea typeface="Montserrat"/>
                <a:cs typeface="Montserrat"/>
                <a:sym typeface="Montserrat"/>
              </a:rPr>
              <a:t>2. </a:t>
            </a:r>
            <a:r>
              <a:rPr lang="en-US" u="sng">
                <a:latin typeface="Montserrat"/>
                <a:ea typeface="Montserrat"/>
                <a:cs typeface="Montserrat"/>
                <a:sym typeface="Montserrat"/>
              </a:rPr>
              <a:t>Acoustic Features Data</a:t>
            </a:r>
            <a:endParaRPr>
              <a:latin typeface="Montserrat"/>
              <a:ea typeface="Montserrat"/>
              <a:cs typeface="Montserrat"/>
              <a:sym typeface="Montserrat"/>
            </a:endParaRPr>
          </a:p>
        </p:txBody>
      </p:sp>
      <p:sp>
        <p:nvSpPr>
          <p:cNvPr id="163" name="Google Shape;163;p17"/>
          <p:cNvSpPr txBox="1"/>
          <p:nvPr>
            <p:ph idx="1" type="body"/>
          </p:nvPr>
        </p:nvSpPr>
        <p:spPr>
          <a:xfrm>
            <a:off x="9718775" y="6936825"/>
            <a:ext cx="7752300" cy="2162100"/>
          </a:xfrm>
          <a:prstGeom prst="rect">
            <a:avLst/>
          </a:prstGeom>
        </p:spPr>
        <p:txBody>
          <a:bodyPr anchorCtr="0" anchor="t" bIns="45700" lIns="91425" spcFirstLastPara="1" rIns="91425" wrap="square" tIns="45700">
            <a:normAutofit lnSpcReduction="10000"/>
          </a:bodyPr>
          <a:lstStyle/>
          <a:p>
            <a:pPr indent="-406400" lvl="0" marL="457200" rtl="0" algn="l">
              <a:spcBef>
                <a:spcPts val="560"/>
              </a:spcBef>
              <a:spcAft>
                <a:spcPts val="0"/>
              </a:spcAft>
              <a:buSzPts val="2800"/>
              <a:buFont typeface="Montserrat"/>
              <a:buChar char="●"/>
            </a:pPr>
            <a:r>
              <a:rPr lang="en-US">
                <a:latin typeface="Montserrat"/>
                <a:ea typeface="Montserrat"/>
                <a:cs typeface="Montserrat"/>
                <a:sym typeface="Montserrat"/>
              </a:rPr>
              <a:t>458 observations, 6373 </a:t>
            </a:r>
            <a:r>
              <a:rPr lang="en-US">
                <a:latin typeface="Montserrat"/>
                <a:ea typeface="Montserrat"/>
                <a:cs typeface="Montserrat"/>
                <a:sym typeface="Montserrat"/>
              </a:rPr>
              <a:t>acoustic</a:t>
            </a:r>
            <a:r>
              <a:rPr lang="en-US">
                <a:latin typeface="Montserrat"/>
                <a:ea typeface="Montserrat"/>
                <a:cs typeface="Montserrat"/>
                <a:sym typeface="Montserrat"/>
              </a:rPr>
              <a:t> features</a:t>
            </a:r>
            <a:endParaRPr>
              <a:latin typeface="Montserrat"/>
              <a:ea typeface="Montserrat"/>
              <a:cs typeface="Montserrat"/>
              <a:sym typeface="Montserrat"/>
            </a:endParaRPr>
          </a:p>
          <a:p>
            <a:pPr indent="0" lvl="0" marL="0" rtl="0" algn="l">
              <a:spcBef>
                <a:spcPts val="560"/>
              </a:spcBef>
              <a:spcAft>
                <a:spcPts val="0"/>
              </a:spcAft>
              <a:buNone/>
            </a:pPr>
            <a:r>
              <a:t/>
            </a:r>
            <a:endParaRPr>
              <a:latin typeface="Montserrat"/>
              <a:ea typeface="Montserrat"/>
              <a:cs typeface="Montserrat"/>
              <a:sym typeface="Montserrat"/>
            </a:endParaRPr>
          </a:p>
          <a:p>
            <a:pPr indent="-406400" lvl="0" marL="457200" rtl="0" algn="l">
              <a:spcBef>
                <a:spcPts val="560"/>
              </a:spcBef>
              <a:spcAft>
                <a:spcPts val="0"/>
              </a:spcAft>
              <a:buSzPts val="2800"/>
              <a:buFont typeface="Montserrat"/>
              <a:buChar char="●"/>
            </a:pPr>
            <a:r>
              <a:rPr lang="en-US">
                <a:latin typeface="Montserrat"/>
                <a:ea typeface="Montserrat"/>
                <a:cs typeface="Montserrat"/>
                <a:sym typeface="Montserrat"/>
              </a:rPr>
              <a:t>Gives information about acoustic features of audios of baby cries</a:t>
            </a:r>
            <a:endParaRPr>
              <a:latin typeface="Montserrat"/>
              <a:ea typeface="Montserrat"/>
              <a:cs typeface="Montserrat"/>
              <a:sym typeface="Montserrat"/>
            </a:endParaRPr>
          </a:p>
        </p:txBody>
      </p:sp>
      <p:sp>
        <p:nvSpPr>
          <p:cNvPr id="164" name="Google Shape;164;p17"/>
          <p:cNvSpPr txBox="1"/>
          <p:nvPr>
            <p:ph idx="1" type="body"/>
          </p:nvPr>
        </p:nvSpPr>
        <p:spPr>
          <a:xfrm>
            <a:off x="459700" y="6936825"/>
            <a:ext cx="8787900" cy="3350100"/>
          </a:xfrm>
          <a:prstGeom prst="rect">
            <a:avLst/>
          </a:prstGeom>
        </p:spPr>
        <p:txBody>
          <a:bodyPr anchorCtr="0" anchor="t" bIns="45700" lIns="91425" spcFirstLastPara="1" rIns="91425" wrap="square" tIns="45700">
            <a:normAutofit/>
          </a:bodyPr>
          <a:lstStyle/>
          <a:p>
            <a:pPr indent="-406400" lvl="0" marL="457200" rtl="0" algn="l">
              <a:spcBef>
                <a:spcPts val="560"/>
              </a:spcBef>
              <a:spcAft>
                <a:spcPts val="0"/>
              </a:spcAft>
              <a:buSzPts val="2800"/>
              <a:buFont typeface="Montserrat"/>
              <a:buChar char="●"/>
            </a:pPr>
            <a:r>
              <a:rPr lang="en-US">
                <a:latin typeface="Montserrat"/>
                <a:ea typeface="Montserrat"/>
                <a:cs typeface="Montserrat"/>
                <a:sym typeface="Montserrat"/>
              </a:rPr>
              <a:t>458 observations</a:t>
            </a:r>
            <a:endParaRPr>
              <a:latin typeface="Montserrat"/>
              <a:ea typeface="Montserrat"/>
              <a:cs typeface="Montserrat"/>
              <a:sym typeface="Montserrat"/>
            </a:endParaRPr>
          </a:p>
          <a:p>
            <a:pPr indent="0" lvl="0" marL="0" rtl="0" algn="l">
              <a:spcBef>
                <a:spcPts val="560"/>
              </a:spcBef>
              <a:spcAft>
                <a:spcPts val="0"/>
              </a:spcAft>
              <a:buNone/>
            </a:pPr>
            <a:r>
              <a:t/>
            </a:r>
            <a:endParaRPr>
              <a:latin typeface="Montserrat"/>
              <a:ea typeface="Montserrat"/>
              <a:cs typeface="Montserrat"/>
              <a:sym typeface="Montserrat"/>
            </a:endParaRPr>
          </a:p>
          <a:p>
            <a:pPr indent="-406400" lvl="0" marL="457200" rtl="0" algn="l">
              <a:spcBef>
                <a:spcPts val="560"/>
              </a:spcBef>
              <a:spcAft>
                <a:spcPts val="0"/>
              </a:spcAft>
              <a:buSzPts val="2800"/>
              <a:buFont typeface="Montserrat"/>
              <a:buChar char="●"/>
            </a:pPr>
            <a:r>
              <a:rPr lang="en-US">
                <a:latin typeface="Montserrat"/>
                <a:ea typeface="Montserrat"/>
                <a:cs typeface="Montserrat"/>
                <a:sym typeface="Montserrat"/>
              </a:rPr>
              <a:t>Predicts whether cry is actually a cry vs. junk noise</a:t>
            </a:r>
            <a:endParaRPr>
              <a:latin typeface="Montserrat"/>
              <a:ea typeface="Montserrat"/>
              <a:cs typeface="Montserrat"/>
              <a:sym typeface="Montserrat"/>
            </a:endParaRPr>
          </a:p>
          <a:p>
            <a:pPr indent="0" lvl="0" marL="0" rtl="0" algn="l">
              <a:spcBef>
                <a:spcPts val="560"/>
              </a:spcBef>
              <a:spcAft>
                <a:spcPts val="0"/>
              </a:spcAft>
              <a:buNone/>
            </a:pPr>
            <a:r>
              <a:t/>
            </a:r>
            <a:endParaRPr>
              <a:latin typeface="Montserrat"/>
              <a:ea typeface="Montserrat"/>
              <a:cs typeface="Montserrat"/>
              <a:sym typeface="Montserrat"/>
            </a:endParaRPr>
          </a:p>
        </p:txBody>
      </p:sp>
      <p:pic>
        <p:nvPicPr>
          <p:cNvPr id="165" name="Google Shape;165;p17"/>
          <p:cNvPicPr preferRelativeResize="0"/>
          <p:nvPr/>
        </p:nvPicPr>
        <p:blipFill>
          <a:blip r:embed="rId4">
            <a:alphaModFix/>
          </a:blip>
          <a:stretch>
            <a:fillRect/>
          </a:stretch>
        </p:blipFill>
        <p:spPr>
          <a:xfrm>
            <a:off x="10021374" y="3779025"/>
            <a:ext cx="7147023" cy="2069425"/>
          </a:xfrm>
          <a:prstGeom prst="rect">
            <a:avLst/>
          </a:prstGeom>
          <a:noFill/>
          <a:ln>
            <a:noFill/>
          </a:ln>
        </p:spPr>
      </p:pic>
      <p:pic>
        <p:nvPicPr>
          <p:cNvPr id="166" name="Google Shape;166;p17"/>
          <p:cNvPicPr preferRelativeResize="0"/>
          <p:nvPr/>
        </p:nvPicPr>
        <p:blipFill>
          <a:blip r:embed="rId5">
            <a:alphaModFix/>
          </a:blip>
          <a:stretch>
            <a:fillRect/>
          </a:stretch>
        </p:blipFill>
        <p:spPr>
          <a:xfrm>
            <a:off x="459700" y="3933412"/>
            <a:ext cx="8787901" cy="19566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170" name="Shape 170"/>
        <p:cNvGrpSpPr/>
        <p:nvPr/>
      </p:nvGrpSpPr>
      <p:grpSpPr>
        <a:xfrm>
          <a:off x="0" y="0"/>
          <a:ext cx="0" cy="0"/>
          <a:chOff x="0" y="0"/>
          <a:chExt cx="0" cy="0"/>
        </a:xfrm>
      </p:grpSpPr>
      <p:grpSp>
        <p:nvGrpSpPr>
          <p:cNvPr id="171" name="Google Shape;171;p18"/>
          <p:cNvGrpSpPr/>
          <p:nvPr/>
        </p:nvGrpSpPr>
        <p:grpSpPr>
          <a:xfrm>
            <a:off x="-1147115" y="0"/>
            <a:ext cx="20582229" cy="10287000"/>
            <a:chOff x="0" y="0"/>
            <a:chExt cx="27442972" cy="13716000"/>
          </a:xfrm>
        </p:grpSpPr>
        <p:sp>
          <p:nvSpPr>
            <p:cNvPr id="172" name="Google Shape;172;p18"/>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173" name="Google Shape;173;p18"/>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174" name="Google Shape;174;p18"/>
          <p:cNvGrpSpPr/>
          <p:nvPr/>
        </p:nvGrpSpPr>
        <p:grpSpPr>
          <a:xfrm>
            <a:off x="1028700" y="582976"/>
            <a:ext cx="10893121" cy="1393913"/>
            <a:chOff x="0" y="-38100"/>
            <a:chExt cx="2588731" cy="588000"/>
          </a:xfrm>
        </p:grpSpPr>
        <p:sp>
          <p:nvSpPr>
            <p:cNvPr id="175" name="Google Shape;175;p18"/>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8"/>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7" name="Google Shape;177;p18"/>
          <p:cNvSpPr txBox="1"/>
          <p:nvPr/>
        </p:nvSpPr>
        <p:spPr>
          <a:xfrm>
            <a:off x="1703306" y="869700"/>
            <a:ext cx="157677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000">
                <a:solidFill>
                  <a:srgbClr val="D34937"/>
                </a:solidFill>
                <a:latin typeface="Lexend"/>
                <a:ea typeface="Lexend"/>
                <a:cs typeface="Lexend"/>
                <a:sym typeface="Lexend"/>
              </a:rPr>
              <a:t>Abstract</a:t>
            </a:r>
            <a:endParaRPr b="1" sz="6000">
              <a:latin typeface="Lexend"/>
              <a:ea typeface="Lexend"/>
              <a:cs typeface="Lexend"/>
              <a:sym typeface="Lexend"/>
            </a:endParaRPr>
          </a:p>
        </p:txBody>
      </p:sp>
      <p:grpSp>
        <p:nvGrpSpPr>
          <p:cNvPr id="178" name="Google Shape;178;p18"/>
          <p:cNvGrpSpPr/>
          <p:nvPr/>
        </p:nvGrpSpPr>
        <p:grpSpPr>
          <a:xfrm>
            <a:off x="233925" y="3173599"/>
            <a:ext cx="18054069" cy="6851200"/>
            <a:chOff x="0" y="-38100"/>
            <a:chExt cx="2588731" cy="588000"/>
          </a:xfrm>
        </p:grpSpPr>
        <p:sp>
          <p:nvSpPr>
            <p:cNvPr id="179" name="Google Shape;179;p18"/>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8"/>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181" name="Google Shape;181;p18"/>
          <p:cNvPicPr preferRelativeResize="0"/>
          <p:nvPr/>
        </p:nvPicPr>
        <p:blipFill>
          <a:blip r:embed="rId4">
            <a:alphaModFix/>
          </a:blip>
          <a:stretch>
            <a:fillRect/>
          </a:stretch>
        </p:blipFill>
        <p:spPr>
          <a:xfrm>
            <a:off x="12441150" y="0"/>
            <a:ext cx="5297950" cy="3557750"/>
          </a:xfrm>
          <a:prstGeom prst="rect">
            <a:avLst/>
          </a:prstGeom>
          <a:noFill/>
          <a:ln>
            <a:noFill/>
          </a:ln>
        </p:spPr>
      </p:pic>
      <p:sp>
        <p:nvSpPr>
          <p:cNvPr id="182" name="Google Shape;182;p18"/>
          <p:cNvSpPr txBox="1"/>
          <p:nvPr/>
        </p:nvSpPr>
        <p:spPr>
          <a:xfrm>
            <a:off x="1080150" y="3689400"/>
            <a:ext cx="16127700" cy="633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700">
                <a:solidFill>
                  <a:schemeClr val="dk1"/>
                </a:solidFill>
                <a:latin typeface="Montserrat"/>
                <a:ea typeface="Montserrat"/>
                <a:cs typeface="Montserrat"/>
                <a:sym typeface="Montserrat"/>
              </a:rPr>
              <a:t>In this project, our research is focused on conducting a thorough review of existing literature by meticulously reviewing scholarly articles to identify the advantageous and disadvantageous aspects of various models, while simultaneously constructing both reliable and intentionally flawed models using the Baby Cry dataset, in other words, being separately good statisticians and bad statisticians . Among the effective statistical models, we employed techniques such as Logistic Regression, KNN, Random Forest, and SVM. All the methods were conducted twice as both using all classes and only two classes due to the domination of one type of cry.  Notably, the Random Forest model recorded the highest test accuracy, achieving 85.71%. Conversely, being bad statisticians, we used the unfiltered data to conduct the same four models as mentioned above again. When modelling parameters on entire data (including test set), the Random Forest Method got the surprisingly high accuracy (100%). The following slides will discuss the details of model algorithms and challenges we faced during our project.</a:t>
            </a:r>
            <a:endParaRPr sz="2700">
              <a:solidFill>
                <a:schemeClr val="dk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186" name="Shape 186"/>
        <p:cNvGrpSpPr/>
        <p:nvPr/>
      </p:nvGrpSpPr>
      <p:grpSpPr>
        <a:xfrm>
          <a:off x="0" y="0"/>
          <a:ext cx="0" cy="0"/>
          <a:chOff x="0" y="0"/>
          <a:chExt cx="0" cy="0"/>
        </a:xfrm>
      </p:grpSpPr>
      <p:grpSp>
        <p:nvGrpSpPr>
          <p:cNvPr id="187" name="Google Shape;187;p19"/>
          <p:cNvGrpSpPr/>
          <p:nvPr/>
        </p:nvGrpSpPr>
        <p:grpSpPr>
          <a:xfrm>
            <a:off x="-1147115" y="0"/>
            <a:ext cx="20582229" cy="10287000"/>
            <a:chOff x="0" y="0"/>
            <a:chExt cx="27442972" cy="13716000"/>
          </a:xfrm>
        </p:grpSpPr>
        <p:sp>
          <p:nvSpPr>
            <p:cNvPr id="188" name="Google Shape;188;p19"/>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189" name="Google Shape;189;p19"/>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190" name="Google Shape;190;p19"/>
          <p:cNvGrpSpPr/>
          <p:nvPr/>
        </p:nvGrpSpPr>
        <p:grpSpPr>
          <a:xfrm>
            <a:off x="1120775" y="7183898"/>
            <a:ext cx="2046133" cy="1730778"/>
            <a:chOff x="0" y="-38100"/>
            <a:chExt cx="2588731" cy="588000"/>
          </a:xfrm>
        </p:grpSpPr>
        <p:sp>
          <p:nvSpPr>
            <p:cNvPr id="191" name="Google Shape;191;p19"/>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b="1" lang="en-US" sz="10000">
                  <a:solidFill>
                    <a:srgbClr val="D34937"/>
                  </a:solidFill>
                  <a:latin typeface="Lexend"/>
                  <a:ea typeface="Lexend"/>
                  <a:cs typeface="Lexend"/>
                  <a:sym typeface="Lexend"/>
                </a:rPr>
                <a:t>2</a:t>
              </a:r>
              <a:endParaRPr sz="10000">
                <a:solidFill>
                  <a:schemeClr val="dk1"/>
                </a:solidFill>
                <a:latin typeface="Calibri"/>
                <a:ea typeface="Calibri"/>
                <a:cs typeface="Calibri"/>
                <a:sym typeface="Calibri"/>
              </a:endParaRPr>
            </a:p>
          </p:txBody>
        </p:sp>
      </p:grpSp>
      <p:sp>
        <p:nvSpPr>
          <p:cNvPr id="193" name="Google Shape;193;p19"/>
          <p:cNvSpPr txBox="1"/>
          <p:nvPr/>
        </p:nvSpPr>
        <p:spPr>
          <a:xfrm>
            <a:off x="3552428" y="7375375"/>
            <a:ext cx="127536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0000">
                <a:solidFill>
                  <a:srgbClr val="D34937"/>
                </a:solidFill>
                <a:latin typeface="Lexend"/>
                <a:ea typeface="Lexend"/>
                <a:cs typeface="Lexend"/>
                <a:sym typeface="Lexend"/>
              </a:rPr>
              <a:t>Literature Review</a:t>
            </a:r>
            <a:endParaRPr b="1" sz="10000">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197" name="Shape 197"/>
        <p:cNvGrpSpPr/>
        <p:nvPr/>
      </p:nvGrpSpPr>
      <p:grpSpPr>
        <a:xfrm>
          <a:off x="0" y="0"/>
          <a:ext cx="0" cy="0"/>
          <a:chOff x="0" y="0"/>
          <a:chExt cx="0" cy="0"/>
        </a:xfrm>
      </p:grpSpPr>
      <p:grpSp>
        <p:nvGrpSpPr>
          <p:cNvPr id="198" name="Google Shape;198;p20"/>
          <p:cNvGrpSpPr/>
          <p:nvPr/>
        </p:nvGrpSpPr>
        <p:grpSpPr>
          <a:xfrm>
            <a:off x="-1147115" y="0"/>
            <a:ext cx="20582229" cy="10287000"/>
            <a:chOff x="0" y="0"/>
            <a:chExt cx="27442972" cy="13716000"/>
          </a:xfrm>
        </p:grpSpPr>
        <p:sp>
          <p:nvSpPr>
            <p:cNvPr id="199" name="Google Shape;199;p20"/>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200" name="Google Shape;200;p20"/>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pic>
        <p:nvPicPr>
          <p:cNvPr id="201" name="Google Shape;201;p20"/>
          <p:cNvPicPr preferRelativeResize="0"/>
          <p:nvPr/>
        </p:nvPicPr>
        <p:blipFill rotWithShape="1">
          <a:blip r:embed="rId4">
            <a:alphaModFix/>
          </a:blip>
          <a:srcRect b="10673" l="6175" r="6367" t="9141"/>
          <a:stretch/>
        </p:blipFill>
        <p:spPr>
          <a:xfrm rot="5400000">
            <a:off x="1622137" y="1677237"/>
            <a:ext cx="7541450" cy="8947476"/>
          </a:xfrm>
          <a:prstGeom prst="rect">
            <a:avLst/>
          </a:prstGeom>
          <a:noFill/>
          <a:ln>
            <a:noFill/>
          </a:ln>
        </p:spPr>
      </p:pic>
      <p:grpSp>
        <p:nvGrpSpPr>
          <p:cNvPr id="202" name="Google Shape;202;p20"/>
          <p:cNvGrpSpPr/>
          <p:nvPr/>
        </p:nvGrpSpPr>
        <p:grpSpPr>
          <a:xfrm>
            <a:off x="1028700" y="582976"/>
            <a:ext cx="8233200" cy="1393913"/>
            <a:chOff x="0" y="-38100"/>
            <a:chExt cx="2588731" cy="588000"/>
          </a:xfrm>
        </p:grpSpPr>
        <p:sp>
          <p:nvSpPr>
            <p:cNvPr id="203" name="Google Shape;203;p20"/>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0"/>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5" name="Google Shape;205;p20"/>
          <p:cNvSpPr txBox="1"/>
          <p:nvPr/>
        </p:nvSpPr>
        <p:spPr>
          <a:xfrm>
            <a:off x="1703306" y="869700"/>
            <a:ext cx="157677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000">
                <a:solidFill>
                  <a:srgbClr val="D34937"/>
                </a:solidFill>
                <a:latin typeface="Lexend"/>
                <a:ea typeface="Lexend"/>
                <a:cs typeface="Lexend"/>
                <a:sym typeface="Lexend"/>
              </a:rPr>
              <a:t>Literature Review</a:t>
            </a:r>
            <a:endParaRPr b="1" sz="6000">
              <a:latin typeface="Lexend"/>
              <a:ea typeface="Lexend"/>
              <a:cs typeface="Lexend"/>
              <a:sym typeface="Lexend"/>
            </a:endParaRPr>
          </a:p>
        </p:txBody>
      </p:sp>
      <p:sp>
        <p:nvSpPr>
          <p:cNvPr id="206" name="Google Shape;206;p20"/>
          <p:cNvSpPr txBox="1"/>
          <p:nvPr>
            <p:ph idx="4294967295" type="body"/>
          </p:nvPr>
        </p:nvSpPr>
        <p:spPr>
          <a:xfrm>
            <a:off x="10628075" y="2619875"/>
            <a:ext cx="6699600" cy="6769800"/>
          </a:xfrm>
          <a:prstGeom prst="rect">
            <a:avLst/>
          </a:prstGeom>
        </p:spPr>
        <p:txBody>
          <a:bodyPr anchorCtr="0" anchor="t" bIns="45700" lIns="91425" spcFirstLastPara="1" rIns="91425" wrap="square" tIns="45700">
            <a:normAutofit lnSpcReduction="20000"/>
          </a:bodyPr>
          <a:lstStyle/>
          <a:p>
            <a:pPr indent="0" lvl="0" marL="0" rtl="0" algn="l">
              <a:spcBef>
                <a:spcPts val="640"/>
              </a:spcBef>
              <a:spcAft>
                <a:spcPts val="0"/>
              </a:spcAft>
              <a:buNone/>
            </a:pPr>
            <a:r>
              <a:t/>
            </a:r>
            <a:endParaRPr i="1" u="sng">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Looked at a total of 7 research studies</a:t>
            </a:r>
            <a:endParaRPr>
              <a:latin typeface="Montserrat"/>
              <a:ea typeface="Montserrat"/>
              <a:cs typeface="Montserrat"/>
              <a:sym typeface="Montserrat"/>
            </a:endParaRPr>
          </a:p>
          <a:p>
            <a:pPr indent="0" lvl="0" marL="457200" rtl="0" algn="l">
              <a:spcBef>
                <a:spcPts val="640"/>
              </a:spcBef>
              <a:spcAft>
                <a:spcPts val="0"/>
              </a:spcAft>
              <a:buNone/>
            </a:pPr>
            <a:r>
              <a:t/>
            </a:r>
            <a:endParaRPr>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Majority use CNN models for classification</a:t>
            </a:r>
            <a:endParaRPr>
              <a:latin typeface="Montserrat"/>
              <a:ea typeface="Montserrat"/>
              <a:cs typeface="Montserrat"/>
              <a:sym typeface="Montserrat"/>
            </a:endParaRPr>
          </a:p>
          <a:p>
            <a:pPr indent="0" lvl="0" marL="0" rtl="0" algn="l">
              <a:spcBef>
                <a:spcPts val="640"/>
              </a:spcBef>
              <a:spcAft>
                <a:spcPts val="0"/>
              </a:spcAft>
              <a:buNone/>
            </a:pPr>
            <a:r>
              <a:t/>
            </a:r>
            <a:endParaRPr>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Testing accuracy ranges from 81% - 100%%</a:t>
            </a:r>
            <a:endParaRPr>
              <a:latin typeface="Montserrat"/>
              <a:ea typeface="Montserrat"/>
              <a:cs typeface="Montserrat"/>
              <a:sym typeface="Montserrat"/>
            </a:endParaRPr>
          </a:p>
          <a:p>
            <a:pPr indent="0" lvl="0" marL="0" rtl="0" algn="l">
              <a:spcBef>
                <a:spcPts val="640"/>
              </a:spcBef>
              <a:spcAft>
                <a:spcPts val="0"/>
              </a:spcAft>
              <a:buNone/>
            </a:pPr>
            <a:r>
              <a:t/>
            </a:r>
            <a:endParaRPr>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Very little acknowledgement of skewness of data:</a:t>
            </a:r>
            <a:endParaRPr>
              <a:latin typeface="Montserrat"/>
              <a:ea typeface="Montserrat"/>
              <a:cs typeface="Montserrat"/>
              <a:sym typeface="Montserrat"/>
            </a:endParaRPr>
          </a:p>
          <a:p>
            <a:pPr indent="0" lvl="0" marL="457200" rtl="0" algn="l">
              <a:spcBef>
                <a:spcPts val="640"/>
              </a:spcBef>
              <a:spcAft>
                <a:spcPts val="0"/>
              </a:spcAft>
              <a:buNone/>
            </a:pPr>
            <a:r>
              <a:t/>
            </a:r>
            <a:endParaRPr>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Some studies don’t report cross-validation</a:t>
            </a:r>
            <a:endParaRPr>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210" name="Shape 210"/>
        <p:cNvGrpSpPr/>
        <p:nvPr/>
      </p:nvGrpSpPr>
      <p:grpSpPr>
        <a:xfrm>
          <a:off x="0" y="0"/>
          <a:ext cx="0" cy="0"/>
          <a:chOff x="0" y="0"/>
          <a:chExt cx="0" cy="0"/>
        </a:xfrm>
      </p:grpSpPr>
      <p:grpSp>
        <p:nvGrpSpPr>
          <p:cNvPr id="211" name="Google Shape;211;p21"/>
          <p:cNvGrpSpPr/>
          <p:nvPr/>
        </p:nvGrpSpPr>
        <p:grpSpPr>
          <a:xfrm>
            <a:off x="-1147115" y="0"/>
            <a:ext cx="20582229" cy="10287000"/>
            <a:chOff x="0" y="0"/>
            <a:chExt cx="27442972" cy="13716000"/>
          </a:xfrm>
        </p:grpSpPr>
        <p:sp>
          <p:nvSpPr>
            <p:cNvPr id="212" name="Google Shape;212;p21"/>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213" name="Google Shape;213;p21"/>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214" name="Google Shape;214;p21"/>
          <p:cNvGrpSpPr/>
          <p:nvPr/>
        </p:nvGrpSpPr>
        <p:grpSpPr>
          <a:xfrm>
            <a:off x="1120775" y="7183898"/>
            <a:ext cx="2046133" cy="1730778"/>
            <a:chOff x="0" y="-38100"/>
            <a:chExt cx="2588731" cy="588000"/>
          </a:xfrm>
        </p:grpSpPr>
        <p:sp>
          <p:nvSpPr>
            <p:cNvPr id="215" name="Google Shape;215;p21"/>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1"/>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b="1" lang="en-US" sz="10000">
                  <a:solidFill>
                    <a:srgbClr val="D34937"/>
                  </a:solidFill>
                  <a:latin typeface="Lexend"/>
                  <a:ea typeface="Lexend"/>
                  <a:cs typeface="Lexend"/>
                  <a:sym typeface="Lexend"/>
                </a:rPr>
                <a:t>3</a:t>
              </a:r>
              <a:endParaRPr sz="10000">
                <a:solidFill>
                  <a:schemeClr val="dk1"/>
                </a:solidFill>
                <a:latin typeface="Calibri"/>
                <a:ea typeface="Calibri"/>
                <a:cs typeface="Calibri"/>
                <a:sym typeface="Calibri"/>
              </a:endParaRPr>
            </a:p>
          </p:txBody>
        </p:sp>
      </p:grpSp>
      <p:sp>
        <p:nvSpPr>
          <p:cNvPr id="217" name="Google Shape;217;p21"/>
          <p:cNvSpPr txBox="1"/>
          <p:nvPr/>
        </p:nvSpPr>
        <p:spPr>
          <a:xfrm>
            <a:off x="3552425" y="7375375"/>
            <a:ext cx="133215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10000">
                <a:solidFill>
                  <a:srgbClr val="D34937"/>
                </a:solidFill>
                <a:latin typeface="Lexend"/>
                <a:ea typeface="Lexend"/>
                <a:cs typeface="Lexend"/>
                <a:sym typeface="Lexend"/>
              </a:rPr>
              <a:t>EDA &amp; Methodology</a:t>
            </a:r>
            <a:endParaRPr b="1" sz="10000">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221" name="Shape 221"/>
        <p:cNvGrpSpPr/>
        <p:nvPr/>
      </p:nvGrpSpPr>
      <p:grpSpPr>
        <a:xfrm>
          <a:off x="0" y="0"/>
          <a:ext cx="0" cy="0"/>
          <a:chOff x="0" y="0"/>
          <a:chExt cx="0" cy="0"/>
        </a:xfrm>
      </p:grpSpPr>
      <p:grpSp>
        <p:nvGrpSpPr>
          <p:cNvPr id="222" name="Google Shape;222;p22"/>
          <p:cNvGrpSpPr/>
          <p:nvPr/>
        </p:nvGrpSpPr>
        <p:grpSpPr>
          <a:xfrm>
            <a:off x="-1147115" y="0"/>
            <a:ext cx="20582229" cy="10287000"/>
            <a:chOff x="0" y="0"/>
            <a:chExt cx="27442972" cy="13716000"/>
          </a:xfrm>
        </p:grpSpPr>
        <p:sp>
          <p:nvSpPr>
            <p:cNvPr id="223" name="Google Shape;223;p22"/>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224" name="Google Shape;224;p22"/>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225" name="Google Shape;225;p22"/>
          <p:cNvGrpSpPr/>
          <p:nvPr/>
        </p:nvGrpSpPr>
        <p:grpSpPr>
          <a:xfrm>
            <a:off x="1028700" y="582976"/>
            <a:ext cx="11556095" cy="1393913"/>
            <a:chOff x="0" y="-38100"/>
            <a:chExt cx="2588731" cy="588000"/>
          </a:xfrm>
        </p:grpSpPr>
        <p:sp>
          <p:nvSpPr>
            <p:cNvPr id="226" name="Google Shape;226;p22"/>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2"/>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8" name="Google Shape;228;p22"/>
          <p:cNvSpPr txBox="1"/>
          <p:nvPr/>
        </p:nvSpPr>
        <p:spPr>
          <a:xfrm>
            <a:off x="1703306" y="869700"/>
            <a:ext cx="157677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000">
                <a:solidFill>
                  <a:srgbClr val="D34937"/>
                </a:solidFill>
                <a:latin typeface="Lexend"/>
                <a:ea typeface="Lexend"/>
                <a:cs typeface="Lexend"/>
                <a:sym typeface="Lexend"/>
              </a:rPr>
              <a:t>Exploratory Data Analysis</a:t>
            </a:r>
            <a:endParaRPr b="1" sz="6000">
              <a:latin typeface="Lexend"/>
              <a:ea typeface="Lexend"/>
              <a:cs typeface="Lexend"/>
              <a:sym typeface="Lexend"/>
            </a:endParaRPr>
          </a:p>
        </p:txBody>
      </p:sp>
      <p:sp>
        <p:nvSpPr>
          <p:cNvPr id="229" name="Google Shape;229;p22"/>
          <p:cNvSpPr txBox="1"/>
          <p:nvPr>
            <p:ph idx="4294967295" type="body"/>
          </p:nvPr>
        </p:nvSpPr>
        <p:spPr>
          <a:xfrm>
            <a:off x="12702625" y="2619875"/>
            <a:ext cx="5067000" cy="67698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t/>
            </a:r>
            <a:endParaRPr i="1" u="sng">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Outcome variable: prediction of cry noise with 5 classes</a:t>
            </a:r>
            <a:endParaRPr>
              <a:latin typeface="Montserrat"/>
              <a:ea typeface="Montserrat"/>
              <a:cs typeface="Montserrat"/>
              <a:sym typeface="Montserrat"/>
            </a:endParaRPr>
          </a:p>
          <a:p>
            <a:pPr indent="0" lvl="0" marL="0" rtl="0" algn="l">
              <a:spcBef>
                <a:spcPts val="640"/>
              </a:spcBef>
              <a:spcAft>
                <a:spcPts val="0"/>
              </a:spcAft>
              <a:buNone/>
            </a:pPr>
            <a:r>
              <a:t/>
            </a:r>
            <a:endParaRPr>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Out of 458 observations:</a:t>
            </a:r>
            <a:endParaRPr>
              <a:latin typeface="Montserrat"/>
              <a:ea typeface="Montserrat"/>
              <a:cs typeface="Montserrat"/>
              <a:sym typeface="Montserrat"/>
            </a:endParaRPr>
          </a:p>
          <a:p>
            <a:pPr indent="-406400" lvl="1" marL="914400" rtl="0" algn="l">
              <a:spcBef>
                <a:spcPts val="0"/>
              </a:spcBef>
              <a:spcAft>
                <a:spcPts val="0"/>
              </a:spcAft>
              <a:buSzPts val="2800"/>
              <a:buFont typeface="Montserrat"/>
              <a:buChar char="○"/>
            </a:pPr>
            <a:r>
              <a:rPr lang="en-US">
                <a:latin typeface="Montserrat"/>
                <a:ea typeface="Montserrat"/>
                <a:cs typeface="Montserrat"/>
                <a:sym typeface="Montserrat"/>
              </a:rPr>
              <a:t>83% are classified as ‘hungry’ - 382 obs.</a:t>
            </a:r>
            <a:endParaRPr>
              <a:latin typeface="Montserrat"/>
              <a:ea typeface="Montserrat"/>
              <a:cs typeface="Montserrat"/>
              <a:sym typeface="Montserrat"/>
            </a:endParaRPr>
          </a:p>
          <a:p>
            <a:pPr indent="-406400" lvl="1" marL="914400" rtl="0" algn="l">
              <a:spcBef>
                <a:spcPts val="0"/>
              </a:spcBef>
              <a:spcAft>
                <a:spcPts val="0"/>
              </a:spcAft>
              <a:buSzPts val="2800"/>
              <a:buFont typeface="Montserrat"/>
              <a:buChar char="○"/>
            </a:pPr>
            <a:r>
              <a:rPr lang="en-US">
                <a:latin typeface="Montserrat"/>
                <a:ea typeface="Montserrat"/>
                <a:cs typeface="Montserrat"/>
                <a:sym typeface="Montserrat"/>
              </a:rPr>
              <a:t>326 classified as cry noises vs. 132 classified as junk noises</a:t>
            </a:r>
            <a:endParaRPr>
              <a:latin typeface="Montserrat"/>
              <a:ea typeface="Montserrat"/>
              <a:cs typeface="Montserrat"/>
              <a:sym typeface="Montserrat"/>
            </a:endParaRPr>
          </a:p>
        </p:txBody>
      </p:sp>
      <p:pic>
        <p:nvPicPr>
          <p:cNvPr id="230" name="Google Shape;230;p22"/>
          <p:cNvPicPr preferRelativeResize="0"/>
          <p:nvPr/>
        </p:nvPicPr>
        <p:blipFill>
          <a:blip r:embed="rId4">
            <a:alphaModFix/>
          </a:blip>
          <a:stretch>
            <a:fillRect/>
          </a:stretch>
        </p:blipFill>
        <p:spPr>
          <a:xfrm>
            <a:off x="695975" y="2341325"/>
            <a:ext cx="11100075" cy="6939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234" name="Shape 234"/>
        <p:cNvGrpSpPr/>
        <p:nvPr/>
      </p:nvGrpSpPr>
      <p:grpSpPr>
        <a:xfrm>
          <a:off x="0" y="0"/>
          <a:ext cx="0" cy="0"/>
          <a:chOff x="0" y="0"/>
          <a:chExt cx="0" cy="0"/>
        </a:xfrm>
      </p:grpSpPr>
      <p:grpSp>
        <p:nvGrpSpPr>
          <p:cNvPr id="235" name="Google Shape;235;p23"/>
          <p:cNvGrpSpPr/>
          <p:nvPr/>
        </p:nvGrpSpPr>
        <p:grpSpPr>
          <a:xfrm>
            <a:off x="-1147115" y="0"/>
            <a:ext cx="20582229" cy="10287000"/>
            <a:chOff x="0" y="0"/>
            <a:chExt cx="27442972" cy="13716000"/>
          </a:xfrm>
        </p:grpSpPr>
        <p:sp>
          <p:nvSpPr>
            <p:cNvPr id="236" name="Google Shape;236;p23"/>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237" name="Google Shape;237;p23"/>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238" name="Google Shape;238;p23"/>
          <p:cNvGrpSpPr/>
          <p:nvPr/>
        </p:nvGrpSpPr>
        <p:grpSpPr>
          <a:xfrm>
            <a:off x="1028700" y="506776"/>
            <a:ext cx="16806301" cy="1393913"/>
            <a:chOff x="0" y="-38100"/>
            <a:chExt cx="2588731" cy="588000"/>
          </a:xfrm>
        </p:grpSpPr>
        <p:sp>
          <p:nvSpPr>
            <p:cNvPr id="239" name="Google Shape;239;p23"/>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3"/>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1" name="Google Shape;241;p23"/>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Exploratory Data Analysis - Filtering out Junk Noises</a:t>
            </a:r>
            <a:endParaRPr b="1" sz="4500">
              <a:latin typeface="Lexend"/>
              <a:ea typeface="Lexend"/>
              <a:cs typeface="Lexend"/>
              <a:sym typeface="Lexend"/>
            </a:endParaRPr>
          </a:p>
        </p:txBody>
      </p:sp>
      <p:graphicFrame>
        <p:nvGraphicFramePr>
          <p:cNvPr id="242" name="Google Shape;242;p23"/>
          <p:cNvGraphicFramePr/>
          <p:nvPr/>
        </p:nvGraphicFramePr>
        <p:xfrm>
          <a:off x="10652550" y="2316363"/>
          <a:ext cx="3000000" cy="3000000"/>
        </p:xfrm>
        <a:graphic>
          <a:graphicData uri="http://schemas.openxmlformats.org/drawingml/2006/table">
            <a:tbl>
              <a:tblPr>
                <a:noFill/>
                <a:tableStyleId>{021C6F59-9F9A-4E29-83AA-440699EBBCEF}</a:tableStyleId>
              </a:tblPr>
              <a:tblGrid>
                <a:gridCol w="3341475"/>
                <a:gridCol w="3341475"/>
              </a:tblGrid>
              <a:tr h="739150">
                <a:tc>
                  <a:txBody>
                    <a:bodyPr/>
                    <a:lstStyle/>
                    <a:p>
                      <a:pPr indent="0" lvl="0" marL="0" rtl="0" algn="ctr">
                        <a:spcBef>
                          <a:spcPts val="0"/>
                        </a:spcBef>
                        <a:spcAft>
                          <a:spcPts val="0"/>
                        </a:spcAft>
                        <a:buNone/>
                      </a:pPr>
                      <a:r>
                        <a:rPr b="1" lang="en-US" sz="2600" u="sng">
                          <a:latin typeface="Montserrat"/>
                          <a:ea typeface="Montserrat"/>
                          <a:cs typeface="Montserrat"/>
                          <a:sym typeface="Montserrat"/>
                        </a:rPr>
                        <a:t>Type of Cry</a:t>
                      </a:r>
                      <a:endParaRPr b="1" sz="2600" u="sng">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600" u="sng">
                          <a:latin typeface="Montserrat"/>
                          <a:ea typeface="Montserrat"/>
                          <a:cs typeface="Montserrat"/>
                          <a:sym typeface="Montserrat"/>
                        </a:rPr>
                        <a:t>Count</a:t>
                      </a:r>
                      <a:endParaRPr b="1" sz="2600" u="sng">
                        <a:latin typeface="Montserrat"/>
                        <a:ea typeface="Montserrat"/>
                        <a:cs typeface="Montserrat"/>
                        <a:sym typeface="Montserrat"/>
                      </a:endParaRPr>
                    </a:p>
                  </a:txBody>
                  <a:tcPr marT="91425" marB="91425" marR="91425" marL="91425" anchor="ctr">
                    <a:solidFill>
                      <a:schemeClr val="lt2"/>
                    </a:solidFill>
                  </a:tcPr>
                </a:tc>
              </a:tr>
              <a:tr h="739150">
                <a:tc>
                  <a:txBody>
                    <a:bodyPr/>
                    <a:lstStyle/>
                    <a:p>
                      <a:pPr indent="0" lvl="0" marL="0" rtl="0" algn="ctr">
                        <a:spcBef>
                          <a:spcPts val="0"/>
                        </a:spcBef>
                        <a:spcAft>
                          <a:spcPts val="0"/>
                        </a:spcAft>
                        <a:buNone/>
                      </a:pPr>
                      <a:r>
                        <a:rPr lang="en-US" sz="2400">
                          <a:latin typeface="Montserrat"/>
                          <a:ea typeface="Montserrat"/>
                          <a:cs typeface="Montserrat"/>
                          <a:sym typeface="Montserrat"/>
                        </a:rPr>
                        <a:t>Belly</a:t>
                      </a:r>
                      <a:endParaRPr sz="24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400">
                          <a:latin typeface="Montserrat"/>
                          <a:ea typeface="Montserrat"/>
                          <a:cs typeface="Montserrat"/>
                          <a:sym typeface="Montserrat"/>
                        </a:rPr>
                        <a:t>12</a:t>
                      </a:r>
                      <a:endParaRPr sz="2400">
                        <a:latin typeface="Montserrat"/>
                        <a:ea typeface="Montserrat"/>
                        <a:cs typeface="Montserrat"/>
                        <a:sym typeface="Montserrat"/>
                      </a:endParaRPr>
                    </a:p>
                  </a:txBody>
                  <a:tcPr marT="91425" marB="91425" marR="91425" marL="91425" anchor="ctr"/>
                </a:tc>
              </a:tr>
              <a:tr h="739150">
                <a:tc>
                  <a:txBody>
                    <a:bodyPr/>
                    <a:lstStyle/>
                    <a:p>
                      <a:pPr indent="0" lvl="0" marL="0" rtl="0" algn="ctr">
                        <a:spcBef>
                          <a:spcPts val="0"/>
                        </a:spcBef>
                        <a:spcAft>
                          <a:spcPts val="0"/>
                        </a:spcAft>
                        <a:buNone/>
                      </a:pPr>
                      <a:r>
                        <a:rPr lang="en-US" sz="2400">
                          <a:latin typeface="Montserrat"/>
                          <a:ea typeface="Montserrat"/>
                          <a:cs typeface="Montserrat"/>
                          <a:sym typeface="Montserrat"/>
                        </a:rPr>
                        <a:t>Discomfort</a:t>
                      </a:r>
                      <a:endParaRPr sz="24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400">
                          <a:latin typeface="Montserrat"/>
                          <a:ea typeface="Montserrat"/>
                          <a:cs typeface="Montserrat"/>
                          <a:sym typeface="Montserrat"/>
                        </a:rPr>
                        <a:t>23</a:t>
                      </a:r>
                      <a:endParaRPr sz="2400">
                        <a:latin typeface="Montserrat"/>
                        <a:ea typeface="Montserrat"/>
                        <a:cs typeface="Montserrat"/>
                        <a:sym typeface="Montserrat"/>
                      </a:endParaRPr>
                    </a:p>
                  </a:txBody>
                  <a:tcPr marT="91425" marB="91425" marR="91425" marL="91425" anchor="ctr"/>
                </a:tc>
              </a:tr>
              <a:tr h="739150">
                <a:tc>
                  <a:txBody>
                    <a:bodyPr/>
                    <a:lstStyle/>
                    <a:p>
                      <a:pPr indent="0" lvl="0" marL="0" rtl="0" algn="ctr">
                        <a:spcBef>
                          <a:spcPts val="0"/>
                        </a:spcBef>
                        <a:spcAft>
                          <a:spcPts val="0"/>
                        </a:spcAft>
                        <a:buNone/>
                      </a:pPr>
                      <a:r>
                        <a:rPr lang="en-US" sz="2400">
                          <a:latin typeface="Montserrat"/>
                          <a:ea typeface="Montserrat"/>
                          <a:cs typeface="Montserrat"/>
                          <a:sym typeface="Montserrat"/>
                        </a:rPr>
                        <a:t>Hungry</a:t>
                      </a:r>
                      <a:endParaRPr sz="24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400">
                          <a:latin typeface="Montserrat"/>
                          <a:ea typeface="Montserrat"/>
                          <a:cs typeface="Montserrat"/>
                          <a:sym typeface="Montserrat"/>
                        </a:rPr>
                        <a:t>270</a:t>
                      </a:r>
                      <a:endParaRPr sz="2400">
                        <a:latin typeface="Montserrat"/>
                        <a:ea typeface="Montserrat"/>
                        <a:cs typeface="Montserrat"/>
                        <a:sym typeface="Montserrat"/>
                      </a:endParaRPr>
                    </a:p>
                  </a:txBody>
                  <a:tcPr marT="91425" marB="91425" marR="91425" marL="91425" anchor="ctr"/>
                </a:tc>
              </a:tr>
              <a:tr h="739150">
                <a:tc>
                  <a:txBody>
                    <a:bodyPr/>
                    <a:lstStyle/>
                    <a:p>
                      <a:pPr indent="0" lvl="0" marL="0" rtl="0" algn="ctr">
                        <a:spcBef>
                          <a:spcPts val="0"/>
                        </a:spcBef>
                        <a:spcAft>
                          <a:spcPts val="0"/>
                        </a:spcAft>
                        <a:buNone/>
                      </a:pPr>
                      <a:r>
                        <a:rPr lang="en-US" sz="2400">
                          <a:latin typeface="Montserrat"/>
                          <a:ea typeface="Montserrat"/>
                          <a:cs typeface="Montserrat"/>
                          <a:sym typeface="Montserrat"/>
                        </a:rPr>
                        <a:t>Tired</a:t>
                      </a:r>
                      <a:endParaRPr sz="24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400">
                          <a:latin typeface="Montserrat"/>
                          <a:ea typeface="Montserrat"/>
                          <a:cs typeface="Montserrat"/>
                          <a:sym typeface="Montserrat"/>
                        </a:rPr>
                        <a:t>19</a:t>
                      </a:r>
                      <a:endParaRPr sz="2400">
                        <a:latin typeface="Montserrat"/>
                        <a:ea typeface="Montserrat"/>
                        <a:cs typeface="Montserrat"/>
                        <a:sym typeface="Montserrat"/>
                      </a:endParaRPr>
                    </a:p>
                  </a:txBody>
                  <a:tcPr marT="91425" marB="91425" marR="91425" marL="91425" anchor="ctr"/>
                </a:tc>
              </a:tr>
              <a:tr h="739150">
                <a:tc>
                  <a:txBody>
                    <a:bodyPr/>
                    <a:lstStyle/>
                    <a:p>
                      <a:pPr indent="0" lvl="0" marL="0" rtl="0" algn="ctr">
                        <a:spcBef>
                          <a:spcPts val="0"/>
                        </a:spcBef>
                        <a:spcAft>
                          <a:spcPts val="0"/>
                        </a:spcAft>
                        <a:buNone/>
                      </a:pPr>
                      <a:r>
                        <a:rPr lang="en-US" sz="2400">
                          <a:latin typeface="Montserrat"/>
                          <a:ea typeface="Montserrat"/>
                          <a:cs typeface="Montserrat"/>
                          <a:sym typeface="Montserrat"/>
                        </a:rPr>
                        <a:t>Burping</a:t>
                      </a:r>
                      <a:endParaRPr sz="24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400">
                          <a:latin typeface="Montserrat"/>
                          <a:ea typeface="Montserrat"/>
                          <a:cs typeface="Montserrat"/>
                          <a:sym typeface="Montserrat"/>
                        </a:rPr>
                        <a:t>2</a:t>
                      </a:r>
                      <a:endParaRPr sz="2400">
                        <a:latin typeface="Montserrat"/>
                        <a:ea typeface="Montserrat"/>
                        <a:cs typeface="Montserrat"/>
                        <a:sym typeface="Montserrat"/>
                      </a:endParaRPr>
                    </a:p>
                  </a:txBody>
                  <a:tcPr marT="91425" marB="91425" marR="91425" marL="91425" anchor="ctr"/>
                </a:tc>
              </a:tr>
            </a:tbl>
          </a:graphicData>
        </a:graphic>
      </p:graphicFrame>
      <p:sp>
        <p:nvSpPr>
          <p:cNvPr id="243" name="Google Shape;243;p23"/>
          <p:cNvSpPr txBox="1"/>
          <p:nvPr>
            <p:ph idx="4294967295" type="body"/>
          </p:nvPr>
        </p:nvSpPr>
        <p:spPr>
          <a:xfrm>
            <a:off x="10584825" y="7740775"/>
            <a:ext cx="6818400" cy="1393800"/>
          </a:xfrm>
          <a:prstGeom prst="rect">
            <a:avLst/>
          </a:prstGeom>
        </p:spPr>
        <p:txBody>
          <a:bodyPr anchorCtr="0" anchor="t" bIns="45700" lIns="91425" spcFirstLastPara="1" rIns="91425" wrap="square" tIns="45700">
            <a:normAutofit/>
          </a:bodyPr>
          <a:lstStyle/>
          <a:p>
            <a:pPr indent="-406400" lvl="1" marL="914400" rtl="0" algn="l">
              <a:spcBef>
                <a:spcPts val="560"/>
              </a:spcBef>
              <a:spcAft>
                <a:spcPts val="0"/>
              </a:spcAft>
              <a:buSzPts val="2800"/>
              <a:buFont typeface="Montserrat"/>
              <a:buChar char="○"/>
            </a:pPr>
            <a:r>
              <a:rPr lang="en-US" sz="3200">
                <a:latin typeface="Montserrat"/>
                <a:ea typeface="Montserrat"/>
                <a:cs typeface="Montserrat"/>
                <a:sym typeface="Montserrat"/>
              </a:rPr>
              <a:t>326 observations - majority are classified as hungry</a:t>
            </a:r>
            <a:endParaRPr sz="3200">
              <a:latin typeface="Montserrat"/>
              <a:ea typeface="Montserrat"/>
              <a:cs typeface="Montserrat"/>
              <a:sym typeface="Montserrat"/>
            </a:endParaRPr>
          </a:p>
        </p:txBody>
      </p:sp>
      <p:pic>
        <p:nvPicPr>
          <p:cNvPr id="244" name="Google Shape;244;p23"/>
          <p:cNvPicPr preferRelativeResize="0"/>
          <p:nvPr/>
        </p:nvPicPr>
        <p:blipFill>
          <a:blip r:embed="rId4">
            <a:alphaModFix/>
          </a:blip>
          <a:stretch>
            <a:fillRect/>
          </a:stretch>
        </p:blipFill>
        <p:spPr>
          <a:xfrm>
            <a:off x="228375" y="2693850"/>
            <a:ext cx="9993876" cy="6176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248" name="Shape 248"/>
        <p:cNvGrpSpPr/>
        <p:nvPr/>
      </p:nvGrpSpPr>
      <p:grpSpPr>
        <a:xfrm>
          <a:off x="0" y="0"/>
          <a:ext cx="0" cy="0"/>
          <a:chOff x="0" y="0"/>
          <a:chExt cx="0" cy="0"/>
        </a:xfrm>
      </p:grpSpPr>
      <p:grpSp>
        <p:nvGrpSpPr>
          <p:cNvPr id="249" name="Google Shape;249;p24"/>
          <p:cNvGrpSpPr/>
          <p:nvPr/>
        </p:nvGrpSpPr>
        <p:grpSpPr>
          <a:xfrm>
            <a:off x="-1147115" y="0"/>
            <a:ext cx="20582229" cy="10287000"/>
            <a:chOff x="0" y="0"/>
            <a:chExt cx="27442972" cy="13716000"/>
          </a:xfrm>
        </p:grpSpPr>
        <p:sp>
          <p:nvSpPr>
            <p:cNvPr id="250" name="Google Shape;250;p24"/>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251" name="Google Shape;251;p24"/>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252" name="Google Shape;252;p24"/>
          <p:cNvGrpSpPr/>
          <p:nvPr/>
        </p:nvGrpSpPr>
        <p:grpSpPr>
          <a:xfrm>
            <a:off x="1028700" y="506776"/>
            <a:ext cx="4984860" cy="1393913"/>
            <a:chOff x="0" y="-38100"/>
            <a:chExt cx="2588731" cy="588000"/>
          </a:xfrm>
        </p:grpSpPr>
        <p:sp>
          <p:nvSpPr>
            <p:cNvPr id="253" name="Google Shape;253;p24"/>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4"/>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5" name="Google Shape;255;p24"/>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Methodology</a:t>
            </a:r>
            <a:endParaRPr b="1" sz="4500">
              <a:latin typeface="Lexend"/>
              <a:ea typeface="Lexend"/>
              <a:cs typeface="Lexend"/>
              <a:sym typeface="Lexend"/>
            </a:endParaRPr>
          </a:p>
        </p:txBody>
      </p:sp>
      <p:sp>
        <p:nvSpPr>
          <p:cNvPr id="256" name="Google Shape;256;p24"/>
          <p:cNvSpPr txBox="1"/>
          <p:nvPr>
            <p:ph idx="4294967295" type="body"/>
          </p:nvPr>
        </p:nvSpPr>
        <p:spPr>
          <a:xfrm>
            <a:off x="1162800" y="2636125"/>
            <a:ext cx="15767700" cy="7125600"/>
          </a:xfrm>
          <a:prstGeom prst="rect">
            <a:avLst/>
          </a:prstGeom>
        </p:spPr>
        <p:txBody>
          <a:bodyPr anchorCtr="0" anchor="t" bIns="45700" lIns="91425" spcFirstLastPara="1" rIns="91425" wrap="square" tIns="45700">
            <a:normAutofit/>
          </a:bodyPr>
          <a:lstStyle/>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Conduct PCA analysis on filtered data to find variables that contribute most to predicting the outcome variable</a:t>
            </a:r>
            <a:endParaRPr>
              <a:latin typeface="Montserrat"/>
              <a:ea typeface="Montserrat"/>
              <a:cs typeface="Montserrat"/>
              <a:sym typeface="Montserrat"/>
            </a:endParaRPr>
          </a:p>
          <a:p>
            <a:pPr indent="0" lvl="0" marL="0" rtl="0" algn="l">
              <a:spcBef>
                <a:spcPts val="640"/>
              </a:spcBef>
              <a:spcAft>
                <a:spcPts val="0"/>
              </a:spcAft>
              <a:buNone/>
            </a:pPr>
            <a:r>
              <a:t/>
            </a:r>
            <a:endParaRPr>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sz="3200">
                <a:latin typeface="Montserrat"/>
                <a:ea typeface="Montserrat"/>
                <a:cs typeface="Montserrat"/>
                <a:sym typeface="Montserrat"/>
              </a:rPr>
              <a:t>Train and test </a:t>
            </a:r>
            <a:r>
              <a:rPr lang="en-US">
                <a:latin typeface="Montserrat"/>
                <a:ea typeface="Montserrat"/>
                <a:cs typeface="Montserrat"/>
                <a:sym typeface="Montserrat"/>
              </a:rPr>
              <a:t>4</a:t>
            </a:r>
            <a:r>
              <a:rPr lang="en-US" sz="3200">
                <a:latin typeface="Montserrat"/>
                <a:ea typeface="Montserrat"/>
                <a:cs typeface="Montserrat"/>
                <a:sym typeface="Montserrat"/>
              </a:rPr>
              <a:t> different models: Logistic Regression, K Nearest Neighbours</a:t>
            </a:r>
            <a:r>
              <a:rPr lang="en-US">
                <a:latin typeface="Montserrat"/>
                <a:ea typeface="Montserrat"/>
                <a:cs typeface="Montserrat"/>
                <a:sym typeface="Montserrat"/>
              </a:rPr>
              <a:t>, </a:t>
            </a:r>
            <a:r>
              <a:rPr lang="en-US" sz="3200">
                <a:latin typeface="Montserrat"/>
                <a:ea typeface="Montserrat"/>
                <a:cs typeface="Montserrat"/>
                <a:sym typeface="Montserrat"/>
              </a:rPr>
              <a:t>Random Forest, and Support Vector Machines (SVM)</a:t>
            </a:r>
            <a:endParaRPr sz="3200">
              <a:latin typeface="Montserrat"/>
              <a:ea typeface="Montserrat"/>
              <a:cs typeface="Montserrat"/>
              <a:sym typeface="Montserrat"/>
            </a:endParaRPr>
          </a:p>
          <a:p>
            <a:pPr indent="0" lvl="0" marL="0" rtl="0" algn="l">
              <a:spcBef>
                <a:spcPts val="640"/>
              </a:spcBef>
              <a:spcAft>
                <a:spcPts val="0"/>
              </a:spcAft>
              <a:buNone/>
            </a:pPr>
            <a:r>
              <a:t/>
            </a:r>
            <a:endParaRPr>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First train models to classify all 5 classes of types of cry &amp; see prediction accuracy</a:t>
            </a:r>
            <a:endParaRPr>
              <a:latin typeface="Montserrat"/>
              <a:ea typeface="Montserrat"/>
              <a:cs typeface="Montserrat"/>
              <a:sym typeface="Montserrat"/>
            </a:endParaRPr>
          </a:p>
          <a:p>
            <a:pPr indent="0" lvl="0" marL="0" rtl="0" algn="l">
              <a:spcBef>
                <a:spcPts val="640"/>
              </a:spcBef>
              <a:spcAft>
                <a:spcPts val="0"/>
              </a:spcAft>
              <a:buNone/>
            </a:pPr>
            <a:r>
              <a:t/>
            </a:r>
            <a:endParaRPr>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Next, since ‘hungry’ has the most number of observations, split data into 2 classes: ‘hungry’ &amp; ‘other’, and train + test models again to check if prediction accuracy increases</a:t>
            </a:r>
            <a:endParaRPr>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260" name="Shape 260"/>
        <p:cNvGrpSpPr/>
        <p:nvPr/>
      </p:nvGrpSpPr>
      <p:grpSpPr>
        <a:xfrm>
          <a:off x="0" y="0"/>
          <a:ext cx="0" cy="0"/>
          <a:chOff x="0" y="0"/>
          <a:chExt cx="0" cy="0"/>
        </a:xfrm>
      </p:grpSpPr>
      <p:grpSp>
        <p:nvGrpSpPr>
          <p:cNvPr id="261" name="Google Shape;261;p25"/>
          <p:cNvGrpSpPr/>
          <p:nvPr/>
        </p:nvGrpSpPr>
        <p:grpSpPr>
          <a:xfrm>
            <a:off x="-1147115" y="0"/>
            <a:ext cx="20582229" cy="10287000"/>
            <a:chOff x="0" y="0"/>
            <a:chExt cx="27442972" cy="13716000"/>
          </a:xfrm>
        </p:grpSpPr>
        <p:sp>
          <p:nvSpPr>
            <p:cNvPr id="262" name="Google Shape;262;p25"/>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263" name="Google Shape;263;p25"/>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264" name="Google Shape;264;p25"/>
          <p:cNvGrpSpPr/>
          <p:nvPr/>
        </p:nvGrpSpPr>
        <p:grpSpPr>
          <a:xfrm>
            <a:off x="1028700" y="506776"/>
            <a:ext cx="10051266" cy="1393913"/>
            <a:chOff x="0" y="-38100"/>
            <a:chExt cx="2588731" cy="588000"/>
          </a:xfrm>
        </p:grpSpPr>
        <p:sp>
          <p:nvSpPr>
            <p:cNvPr id="265" name="Google Shape;265;p25"/>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5"/>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25"/>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Principal Component Analysis</a:t>
            </a:r>
            <a:endParaRPr b="1" sz="4500">
              <a:latin typeface="Lexend"/>
              <a:ea typeface="Lexend"/>
              <a:cs typeface="Lexend"/>
              <a:sym typeface="Lexend"/>
            </a:endParaRPr>
          </a:p>
        </p:txBody>
      </p:sp>
      <p:sp>
        <p:nvSpPr>
          <p:cNvPr id="268" name="Google Shape;268;p25"/>
          <p:cNvSpPr txBox="1"/>
          <p:nvPr>
            <p:ph idx="4294967295" type="body"/>
          </p:nvPr>
        </p:nvSpPr>
        <p:spPr>
          <a:xfrm>
            <a:off x="10420875" y="3550525"/>
            <a:ext cx="6509700" cy="3871800"/>
          </a:xfrm>
          <a:prstGeom prst="rect">
            <a:avLst/>
          </a:prstGeom>
        </p:spPr>
        <p:txBody>
          <a:bodyPr anchorCtr="0" anchor="t" bIns="45700" lIns="91425" spcFirstLastPara="1" rIns="91425" wrap="square" tIns="45700">
            <a:normAutofit/>
          </a:bodyPr>
          <a:lstStyle/>
          <a:p>
            <a:pPr indent="0" lvl="0" marL="0" rtl="0" algn="l">
              <a:spcBef>
                <a:spcPts val="640"/>
              </a:spcBef>
              <a:spcAft>
                <a:spcPts val="0"/>
              </a:spcAft>
              <a:buNone/>
            </a:pPr>
            <a:r>
              <a:t/>
            </a:r>
            <a:endParaRPr>
              <a:latin typeface="Montserrat"/>
              <a:ea typeface="Montserrat"/>
              <a:cs typeface="Montserrat"/>
              <a:sym typeface="Montserrat"/>
            </a:endParaRPr>
          </a:p>
          <a:p>
            <a:pPr indent="-431800" lvl="0" marL="457200" rtl="0" algn="l">
              <a:spcBef>
                <a:spcPts val="640"/>
              </a:spcBef>
              <a:spcAft>
                <a:spcPts val="0"/>
              </a:spcAft>
              <a:buSzPts val="3200"/>
              <a:buFont typeface="Montserrat"/>
              <a:buChar char="●"/>
            </a:pPr>
            <a:r>
              <a:rPr lang="en-US">
                <a:latin typeface="Montserrat"/>
                <a:ea typeface="Montserrat"/>
                <a:cs typeface="Montserrat"/>
                <a:sym typeface="Montserrat"/>
              </a:rPr>
              <a:t>3 components that contributed the most to predicting the response variable</a:t>
            </a:r>
            <a:endParaRPr sz="3200">
              <a:latin typeface="Montserrat"/>
              <a:ea typeface="Montserrat"/>
              <a:cs typeface="Montserrat"/>
              <a:sym typeface="Montserrat"/>
            </a:endParaRPr>
          </a:p>
          <a:p>
            <a:pPr indent="0" lvl="0" marL="0" rtl="0" algn="l">
              <a:spcBef>
                <a:spcPts val="640"/>
              </a:spcBef>
              <a:spcAft>
                <a:spcPts val="0"/>
              </a:spcAft>
              <a:buNone/>
            </a:pPr>
            <a:r>
              <a:t/>
            </a:r>
            <a:endParaRPr>
              <a:latin typeface="Montserrat"/>
              <a:ea typeface="Montserrat"/>
              <a:cs typeface="Montserrat"/>
              <a:sym typeface="Montserrat"/>
            </a:endParaRPr>
          </a:p>
        </p:txBody>
      </p:sp>
      <p:pic>
        <p:nvPicPr>
          <p:cNvPr id="269" name="Google Shape;269;p25"/>
          <p:cNvPicPr preferRelativeResize="0"/>
          <p:nvPr/>
        </p:nvPicPr>
        <p:blipFill>
          <a:blip r:embed="rId4">
            <a:alphaModFix/>
          </a:blip>
          <a:stretch>
            <a:fillRect/>
          </a:stretch>
        </p:blipFill>
        <p:spPr>
          <a:xfrm>
            <a:off x="691773" y="3248975"/>
            <a:ext cx="9156649" cy="53183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273" name="Shape 273"/>
        <p:cNvGrpSpPr/>
        <p:nvPr/>
      </p:nvGrpSpPr>
      <p:grpSpPr>
        <a:xfrm>
          <a:off x="0" y="0"/>
          <a:ext cx="0" cy="0"/>
          <a:chOff x="0" y="0"/>
          <a:chExt cx="0" cy="0"/>
        </a:xfrm>
      </p:grpSpPr>
      <p:grpSp>
        <p:nvGrpSpPr>
          <p:cNvPr id="274" name="Google Shape;274;p26"/>
          <p:cNvGrpSpPr/>
          <p:nvPr/>
        </p:nvGrpSpPr>
        <p:grpSpPr>
          <a:xfrm>
            <a:off x="-1147115" y="0"/>
            <a:ext cx="20582229" cy="10287000"/>
            <a:chOff x="0" y="0"/>
            <a:chExt cx="27442972" cy="13716000"/>
          </a:xfrm>
        </p:grpSpPr>
        <p:sp>
          <p:nvSpPr>
            <p:cNvPr id="275" name="Google Shape;275;p26"/>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276" name="Google Shape;276;p26"/>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277" name="Google Shape;277;p26"/>
          <p:cNvGrpSpPr/>
          <p:nvPr/>
        </p:nvGrpSpPr>
        <p:grpSpPr>
          <a:xfrm>
            <a:off x="1120775" y="7183898"/>
            <a:ext cx="2046133" cy="1730778"/>
            <a:chOff x="0" y="-38100"/>
            <a:chExt cx="2588731" cy="588000"/>
          </a:xfrm>
        </p:grpSpPr>
        <p:sp>
          <p:nvSpPr>
            <p:cNvPr id="278" name="Google Shape;278;p26"/>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6"/>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b="1" lang="en-US" sz="10000">
                  <a:solidFill>
                    <a:srgbClr val="D34937"/>
                  </a:solidFill>
                  <a:latin typeface="Lexend"/>
                  <a:ea typeface="Lexend"/>
                  <a:cs typeface="Lexend"/>
                  <a:sym typeface="Lexend"/>
                </a:rPr>
                <a:t>4</a:t>
              </a:r>
              <a:endParaRPr sz="10000">
                <a:solidFill>
                  <a:schemeClr val="dk1"/>
                </a:solidFill>
                <a:latin typeface="Calibri"/>
                <a:ea typeface="Calibri"/>
                <a:cs typeface="Calibri"/>
                <a:sym typeface="Calibri"/>
              </a:endParaRPr>
            </a:p>
          </p:txBody>
        </p:sp>
      </p:grpSp>
      <p:sp>
        <p:nvSpPr>
          <p:cNvPr id="280" name="Google Shape;280;p26"/>
          <p:cNvSpPr txBox="1"/>
          <p:nvPr/>
        </p:nvSpPr>
        <p:spPr>
          <a:xfrm>
            <a:off x="3552425" y="7375375"/>
            <a:ext cx="13376400" cy="133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700">
                <a:solidFill>
                  <a:srgbClr val="D34937"/>
                </a:solidFill>
                <a:latin typeface="Lexend"/>
                <a:ea typeface="Lexend"/>
                <a:cs typeface="Lexend"/>
                <a:sym typeface="Lexend"/>
              </a:rPr>
              <a:t>Good Statistics: Models</a:t>
            </a:r>
            <a:endParaRPr b="1" sz="8700">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284" name="Shape 284"/>
        <p:cNvGrpSpPr/>
        <p:nvPr/>
      </p:nvGrpSpPr>
      <p:grpSpPr>
        <a:xfrm>
          <a:off x="0" y="0"/>
          <a:ext cx="0" cy="0"/>
          <a:chOff x="0" y="0"/>
          <a:chExt cx="0" cy="0"/>
        </a:xfrm>
      </p:grpSpPr>
      <p:grpSp>
        <p:nvGrpSpPr>
          <p:cNvPr id="285" name="Google Shape;285;p27"/>
          <p:cNvGrpSpPr/>
          <p:nvPr/>
        </p:nvGrpSpPr>
        <p:grpSpPr>
          <a:xfrm>
            <a:off x="-1147115" y="0"/>
            <a:ext cx="20582229" cy="10287000"/>
            <a:chOff x="0" y="0"/>
            <a:chExt cx="27442972" cy="13716000"/>
          </a:xfrm>
        </p:grpSpPr>
        <p:sp>
          <p:nvSpPr>
            <p:cNvPr id="286" name="Google Shape;286;p27"/>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287" name="Google Shape;287;p27"/>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288" name="Google Shape;288;p27"/>
          <p:cNvGrpSpPr/>
          <p:nvPr/>
        </p:nvGrpSpPr>
        <p:grpSpPr>
          <a:xfrm>
            <a:off x="1028700" y="506776"/>
            <a:ext cx="10939718" cy="1393913"/>
            <a:chOff x="0" y="-38100"/>
            <a:chExt cx="2588731" cy="588000"/>
          </a:xfrm>
        </p:grpSpPr>
        <p:sp>
          <p:nvSpPr>
            <p:cNvPr id="289" name="Google Shape;289;p27"/>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7"/>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1" name="Google Shape;291;p27"/>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514350" lvl="0" marL="457200" marR="0" rtl="0" algn="l">
              <a:lnSpc>
                <a:spcPct val="100000"/>
              </a:lnSpc>
              <a:spcBef>
                <a:spcPts val="0"/>
              </a:spcBef>
              <a:spcAft>
                <a:spcPts val="0"/>
              </a:spcAft>
              <a:buClr>
                <a:srgbClr val="D34937"/>
              </a:buClr>
              <a:buSzPts val="4500"/>
              <a:buFont typeface="Lexend"/>
              <a:buAutoNum type="arabicPeriod"/>
            </a:pPr>
            <a:r>
              <a:rPr b="1" lang="en-US" sz="4500">
                <a:solidFill>
                  <a:srgbClr val="D34937"/>
                </a:solidFill>
                <a:latin typeface="Lexend"/>
                <a:ea typeface="Lexend"/>
                <a:cs typeface="Lexend"/>
                <a:sym typeface="Lexend"/>
              </a:rPr>
              <a:t>Logistic Regression - All Classes</a:t>
            </a:r>
            <a:endParaRPr b="1" sz="4500">
              <a:latin typeface="Lexend"/>
              <a:ea typeface="Lexend"/>
              <a:cs typeface="Lexend"/>
              <a:sym typeface="Lexend"/>
            </a:endParaRPr>
          </a:p>
        </p:txBody>
      </p:sp>
      <p:sp>
        <p:nvSpPr>
          <p:cNvPr id="292" name="Google Shape;292;p27"/>
          <p:cNvSpPr txBox="1"/>
          <p:nvPr>
            <p:ph idx="4294967295" type="body"/>
          </p:nvPr>
        </p:nvSpPr>
        <p:spPr>
          <a:xfrm>
            <a:off x="1703300" y="7496125"/>
            <a:ext cx="15576600" cy="1899900"/>
          </a:xfrm>
          <a:prstGeom prst="rect">
            <a:avLst/>
          </a:prstGeom>
          <a:solidFill>
            <a:srgbClr val="9FC5E8"/>
          </a:solidFill>
        </p:spPr>
        <p:txBody>
          <a:bodyPr anchorCtr="0" anchor="t" bIns="45700" lIns="91425" spcFirstLastPara="1" rIns="91425" wrap="square" tIns="45700">
            <a:normAutofit lnSpcReduction="20000"/>
          </a:bodyPr>
          <a:lstStyle/>
          <a:p>
            <a:pPr indent="0" lvl="0" marL="457200" rtl="0" algn="ctr">
              <a:spcBef>
                <a:spcPts val="640"/>
              </a:spcBef>
              <a:spcAft>
                <a:spcPts val="0"/>
              </a:spcAft>
              <a:buNone/>
            </a:pPr>
            <a:r>
              <a:t/>
            </a:r>
            <a:endParaRPr b="1">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Testing Accuracy</a:t>
            </a:r>
            <a:r>
              <a:rPr lang="en-US">
                <a:latin typeface="Montserrat"/>
                <a:ea typeface="Montserrat"/>
                <a:cs typeface="Montserrat"/>
                <a:sym typeface="Montserrat"/>
              </a:rPr>
              <a:t>:  31.58%</a:t>
            </a:r>
            <a:endParaRPr>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Kappa</a:t>
            </a:r>
            <a:r>
              <a:rPr lang="en-US">
                <a:latin typeface="Montserrat"/>
                <a:ea typeface="Montserrat"/>
                <a:cs typeface="Montserrat"/>
                <a:sym typeface="Montserrat"/>
              </a:rPr>
              <a:t>: </a:t>
            </a:r>
            <a:r>
              <a:rPr lang="en-US">
                <a:latin typeface="Montserrat"/>
                <a:ea typeface="Montserrat"/>
                <a:cs typeface="Montserrat"/>
                <a:sym typeface="Montserrat"/>
              </a:rPr>
              <a:t>-0.0042</a:t>
            </a:r>
            <a:endParaRPr>
              <a:latin typeface="Montserrat"/>
              <a:ea typeface="Montserrat"/>
              <a:cs typeface="Montserrat"/>
              <a:sym typeface="Montserrat"/>
            </a:endParaRPr>
          </a:p>
          <a:p>
            <a:pPr indent="0" lvl="0" marL="0" rtl="0" algn="ctr">
              <a:spcBef>
                <a:spcPts val="640"/>
              </a:spcBef>
              <a:spcAft>
                <a:spcPts val="0"/>
              </a:spcAft>
              <a:buNone/>
            </a:pPr>
            <a:r>
              <a:t/>
            </a:r>
            <a:endParaRPr>
              <a:latin typeface="Montserrat"/>
              <a:ea typeface="Montserrat"/>
              <a:cs typeface="Montserrat"/>
              <a:sym typeface="Montserrat"/>
            </a:endParaRPr>
          </a:p>
        </p:txBody>
      </p:sp>
      <p:graphicFrame>
        <p:nvGraphicFramePr>
          <p:cNvPr id="293" name="Google Shape;293;p27"/>
          <p:cNvGraphicFramePr/>
          <p:nvPr/>
        </p:nvGraphicFramePr>
        <p:xfrm>
          <a:off x="8998275" y="2507213"/>
          <a:ext cx="3000000" cy="3000000"/>
        </p:xfrm>
        <a:graphic>
          <a:graphicData uri="http://schemas.openxmlformats.org/drawingml/2006/table">
            <a:tbl>
              <a:tblPr>
                <a:noFill/>
                <a:tableStyleId>{021C6F59-9F9A-4E29-83AA-440699EBBCEF}</a:tableStyleId>
              </a:tblPr>
              <a:tblGrid>
                <a:gridCol w="1793450"/>
                <a:gridCol w="1793450"/>
                <a:gridCol w="1793450"/>
                <a:gridCol w="1793450"/>
                <a:gridCol w="1793450"/>
              </a:tblGrid>
              <a:tr h="778900">
                <a:tc>
                  <a:txBody>
                    <a:bodyPr/>
                    <a:lstStyle/>
                    <a:p>
                      <a:pPr indent="0" lvl="0" marL="0" rtl="0" algn="ctr">
                        <a:spcBef>
                          <a:spcPts val="0"/>
                        </a:spcBef>
                        <a:spcAft>
                          <a:spcPts val="0"/>
                        </a:spcAft>
                        <a:buNone/>
                      </a:pPr>
                      <a:r>
                        <a:t/>
                      </a:r>
                      <a:endParaRPr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Sensitivity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Specificity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Precision</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Misclassification</a:t>
                      </a:r>
                      <a:endParaRPr b="1" sz="2000">
                        <a:latin typeface="Montserrat"/>
                        <a:ea typeface="Montserrat"/>
                        <a:cs typeface="Montserrat"/>
                        <a:sym typeface="Montserrat"/>
                      </a:endParaRPr>
                    </a:p>
                  </a:txBody>
                  <a:tcPr marT="91425" marB="91425" marR="91425" marL="91425" anchor="ctr">
                    <a:solidFill>
                      <a:schemeClr val="lt2"/>
                    </a:solidFill>
                  </a:tcPr>
                </a:tc>
              </a:tr>
              <a:tr h="778900">
                <a:tc>
                  <a:txBody>
                    <a:bodyPr/>
                    <a:lstStyle/>
                    <a:p>
                      <a:pPr indent="0" lvl="0" marL="0" rtl="0" algn="ctr">
                        <a:spcBef>
                          <a:spcPts val="0"/>
                        </a:spcBef>
                        <a:spcAft>
                          <a:spcPts val="0"/>
                        </a:spcAft>
                        <a:buNone/>
                      </a:pPr>
                      <a:r>
                        <a:rPr b="1" lang="en-US" sz="2000">
                          <a:latin typeface="Montserrat"/>
                          <a:ea typeface="Montserrat"/>
                          <a:cs typeface="Montserrat"/>
                          <a:sym typeface="Montserrat"/>
                        </a:rPr>
                        <a:t>Belly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20</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9</a:t>
                      </a:r>
                      <a:r>
                        <a:rPr lang="en-US" sz="2000">
                          <a:latin typeface="Montserrat"/>
                          <a:ea typeface="Montserrat"/>
                          <a:cs typeface="Montserrat"/>
                          <a:sym typeface="Montserrat"/>
                        </a:rPr>
                        <a:t>7.78</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33.33</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6.32%</a:t>
                      </a:r>
                      <a:endParaRPr sz="2000">
                        <a:latin typeface="Montserrat"/>
                        <a:ea typeface="Montserrat"/>
                        <a:cs typeface="Montserrat"/>
                        <a:sym typeface="Montserrat"/>
                      </a:endParaRPr>
                    </a:p>
                  </a:txBody>
                  <a:tcPr marT="91425" marB="91425" marR="91425" marL="91425" anchor="ctr"/>
                </a:tc>
              </a:tr>
              <a:tr h="778900">
                <a:tc>
                  <a:txBody>
                    <a:bodyPr/>
                    <a:lstStyle/>
                    <a:p>
                      <a:pPr indent="0" lvl="0" marL="0" rtl="0" algn="ctr">
                        <a:spcBef>
                          <a:spcPts val="0"/>
                        </a:spcBef>
                        <a:spcAft>
                          <a:spcPts val="0"/>
                        </a:spcAft>
                        <a:buNone/>
                      </a:pPr>
                      <a:r>
                        <a:rPr b="1" lang="en-US" sz="2000">
                          <a:latin typeface="Montserrat"/>
                          <a:ea typeface="Montserrat"/>
                          <a:cs typeface="Montserrat"/>
                          <a:sym typeface="Montserrat"/>
                        </a:rPr>
                        <a:t>Burping</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8.42%</a:t>
                      </a:r>
                      <a:endParaRPr sz="2000">
                        <a:latin typeface="Montserrat"/>
                        <a:ea typeface="Montserrat"/>
                        <a:cs typeface="Montserrat"/>
                        <a:sym typeface="Montserrat"/>
                      </a:endParaRPr>
                    </a:p>
                  </a:txBody>
                  <a:tcPr marT="91425" marB="91425" marR="91425" marL="91425" anchor="ctr"/>
                </a:tc>
              </a:tr>
              <a:tr h="778900">
                <a:tc>
                  <a:txBody>
                    <a:bodyPr/>
                    <a:lstStyle/>
                    <a:p>
                      <a:pPr indent="0" lvl="0" marL="0" rtl="0" algn="ctr">
                        <a:spcBef>
                          <a:spcPts val="0"/>
                        </a:spcBef>
                        <a:spcAft>
                          <a:spcPts val="0"/>
                        </a:spcAft>
                        <a:buNone/>
                      </a:pPr>
                      <a:r>
                        <a:rPr b="1" lang="en-US" sz="2000">
                          <a:latin typeface="Montserrat"/>
                          <a:ea typeface="Montserrat"/>
                          <a:cs typeface="Montserrat"/>
                          <a:sym typeface="Montserrat"/>
                        </a:rPr>
                        <a:t>Discomfort</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10.53%</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94.74%</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33.33%</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22.11%</a:t>
                      </a:r>
                      <a:endParaRPr sz="2000">
                        <a:latin typeface="Montserrat"/>
                        <a:ea typeface="Montserrat"/>
                        <a:cs typeface="Montserrat"/>
                        <a:sym typeface="Montserrat"/>
                      </a:endParaRPr>
                    </a:p>
                  </a:txBody>
                  <a:tcPr marT="91425" marB="91425" marR="91425" marL="91425" anchor="ctr"/>
                </a:tc>
              </a:tr>
              <a:tr h="778900">
                <a:tc>
                  <a:txBody>
                    <a:bodyPr/>
                    <a:lstStyle/>
                    <a:p>
                      <a:pPr indent="0" lvl="0" marL="0" rtl="0" algn="ctr">
                        <a:spcBef>
                          <a:spcPts val="0"/>
                        </a:spcBef>
                        <a:spcAft>
                          <a:spcPts val="0"/>
                        </a:spcAft>
                        <a:buNone/>
                      </a:pPr>
                      <a:r>
                        <a:rPr b="1" lang="en-US" sz="2000">
                          <a:latin typeface="Montserrat"/>
                          <a:ea typeface="Montserrat"/>
                          <a:cs typeface="Montserrat"/>
                          <a:sym typeface="Montserrat"/>
                        </a:rPr>
                        <a:t>Hungry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84.38%</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14.29%</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33.33</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62.11%</a:t>
                      </a:r>
                      <a:endParaRPr sz="2000">
                        <a:latin typeface="Montserrat"/>
                        <a:ea typeface="Montserrat"/>
                        <a:cs typeface="Montserrat"/>
                        <a:sym typeface="Montserrat"/>
                      </a:endParaRPr>
                    </a:p>
                  </a:txBody>
                  <a:tcPr marT="91425" marB="91425" marR="91425" marL="91425" anchor="ctr"/>
                </a:tc>
              </a:tr>
              <a:tr h="778900">
                <a:tc>
                  <a:txBody>
                    <a:bodyPr/>
                    <a:lstStyle/>
                    <a:p>
                      <a:pPr indent="0" lvl="0" marL="0" rtl="0" algn="ctr">
                        <a:spcBef>
                          <a:spcPts val="0"/>
                        </a:spcBef>
                        <a:spcAft>
                          <a:spcPts val="0"/>
                        </a:spcAft>
                        <a:buNone/>
                      </a:pPr>
                      <a:r>
                        <a:rPr b="1" lang="en-US" sz="2000">
                          <a:latin typeface="Montserrat"/>
                          <a:ea typeface="Montserrat"/>
                          <a:cs typeface="Montserrat"/>
                          <a:sym typeface="Montserrat"/>
                        </a:rPr>
                        <a:t>Tired</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92.19</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37.89%</a:t>
                      </a:r>
                      <a:endParaRPr sz="2000">
                        <a:latin typeface="Montserrat"/>
                        <a:ea typeface="Montserrat"/>
                        <a:cs typeface="Montserrat"/>
                        <a:sym typeface="Montserrat"/>
                      </a:endParaRPr>
                    </a:p>
                  </a:txBody>
                  <a:tcPr marT="91425" marB="91425" marR="91425" marL="91425" anchor="ctr"/>
                </a:tc>
              </a:tr>
            </a:tbl>
          </a:graphicData>
        </a:graphic>
      </p:graphicFrame>
      <p:pic>
        <p:nvPicPr>
          <p:cNvPr id="294" name="Google Shape;294;p27"/>
          <p:cNvPicPr preferRelativeResize="0"/>
          <p:nvPr/>
        </p:nvPicPr>
        <p:blipFill>
          <a:blip r:embed="rId4">
            <a:alphaModFix/>
          </a:blip>
          <a:stretch>
            <a:fillRect/>
          </a:stretch>
        </p:blipFill>
        <p:spPr>
          <a:xfrm>
            <a:off x="499113" y="2216225"/>
            <a:ext cx="8145776" cy="49643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298" name="Shape 298"/>
        <p:cNvGrpSpPr/>
        <p:nvPr/>
      </p:nvGrpSpPr>
      <p:grpSpPr>
        <a:xfrm>
          <a:off x="0" y="0"/>
          <a:ext cx="0" cy="0"/>
          <a:chOff x="0" y="0"/>
          <a:chExt cx="0" cy="0"/>
        </a:xfrm>
      </p:grpSpPr>
      <p:grpSp>
        <p:nvGrpSpPr>
          <p:cNvPr id="299" name="Google Shape;299;p28"/>
          <p:cNvGrpSpPr/>
          <p:nvPr/>
        </p:nvGrpSpPr>
        <p:grpSpPr>
          <a:xfrm>
            <a:off x="-1147115" y="0"/>
            <a:ext cx="20582229" cy="10287000"/>
            <a:chOff x="0" y="0"/>
            <a:chExt cx="27442972" cy="13716000"/>
          </a:xfrm>
        </p:grpSpPr>
        <p:sp>
          <p:nvSpPr>
            <p:cNvPr id="300" name="Google Shape;300;p28"/>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301" name="Google Shape;301;p28"/>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302" name="Google Shape;302;p28"/>
          <p:cNvGrpSpPr/>
          <p:nvPr/>
        </p:nvGrpSpPr>
        <p:grpSpPr>
          <a:xfrm>
            <a:off x="1028700" y="506776"/>
            <a:ext cx="10939718" cy="1393913"/>
            <a:chOff x="0" y="-38100"/>
            <a:chExt cx="2588731" cy="588000"/>
          </a:xfrm>
        </p:grpSpPr>
        <p:sp>
          <p:nvSpPr>
            <p:cNvPr id="303" name="Google Shape;303;p28"/>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8"/>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5" name="Google Shape;305;p28"/>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514350" lvl="0" marL="457200" marR="0" rtl="0" algn="l">
              <a:lnSpc>
                <a:spcPct val="100000"/>
              </a:lnSpc>
              <a:spcBef>
                <a:spcPts val="0"/>
              </a:spcBef>
              <a:spcAft>
                <a:spcPts val="0"/>
              </a:spcAft>
              <a:buClr>
                <a:srgbClr val="D34937"/>
              </a:buClr>
              <a:buSzPts val="4500"/>
              <a:buFont typeface="Lexend"/>
              <a:buAutoNum type="arabicPeriod"/>
            </a:pPr>
            <a:r>
              <a:rPr b="1" lang="en-US" sz="4500">
                <a:solidFill>
                  <a:srgbClr val="D34937"/>
                </a:solidFill>
                <a:latin typeface="Lexend"/>
                <a:ea typeface="Lexend"/>
                <a:cs typeface="Lexend"/>
                <a:sym typeface="Lexend"/>
              </a:rPr>
              <a:t>Logistic Regression - 2 Classes</a:t>
            </a:r>
            <a:endParaRPr b="1" sz="4500">
              <a:latin typeface="Lexend"/>
              <a:ea typeface="Lexend"/>
              <a:cs typeface="Lexend"/>
              <a:sym typeface="Lexend"/>
            </a:endParaRPr>
          </a:p>
        </p:txBody>
      </p:sp>
      <p:sp>
        <p:nvSpPr>
          <p:cNvPr id="306" name="Google Shape;306;p28"/>
          <p:cNvSpPr txBox="1"/>
          <p:nvPr>
            <p:ph idx="4294967295" type="body"/>
          </p:nvPr>
        </p:nvSpPr>
        <p:spPr>
          <a:xfrm>
            <a:off x="1703300" y="7496125"/>
            <a:ext cx="15576600" cy="1899900"/>
          </a:xfrm>
          <a:prstGeom prst="rect">
            <a:avLst/>
          </a:prstGeom>
          <a:solidFill>
            <a:srgbClr val="9FC5E8"/>
          </a:solidFill>
        </p:spPr>
        <p:txBody>
          <a:bodyPr anchorCtr="0" anchor="t" bIns="45700" lIns="91425" spcFirstLastPara="1" rIns="91425" wrap="square" tIns="45700">
            <a:normAutofit lnSpcReduction="20000"/>
          </a:bodyPr>
          <a:lstStyle/>
          <a:p>
            <a:pPr indent="0" lvl="0" marL="457200" rtl="0" algn="ctr">
              <a:spcBef>
                <a:spcPts val="640"/>
              </a:spcBef>
              <a:spcAft>
                <a:spcPts val="0"/>
              </a:spcAft>
              <a:buNone/>
            </a:pPr>
            <a:r>
              <a:t/>
            </a:r>
            <a:endParaRPr b="1">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Testing Accuracy</a:t>
            </a:r>
            <a:r>
              <a:rPr lang="en-US">
                <a:latin typeface="Montserrat"/>
                <a:ea typeface="Montserrat"/>
                <a:cs typeface="Montserrat"/>
                <a:sym typeface="Montserrat"/>
              </a:rPr>
              <a:t>:  73.47%</a:t>
            </a:r>
            <a:endParaRPr>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Kappa</a:t>
            </a:r>
            <a:r>
              <a:rPr lang="en-US">
                <a:latin typeface="Montserrat"/>
                <a:ea typeface="Montserrat"/>
                <a:cs typeface="Montserrat"/>
                <a:sym typeface="Montserrat"/>
              </a:rPr>
              <a:t>: </a:t>
            </a:r>
            <a:r>
              <a:rPr lang="en-US">
                <a:latin typeface="Montserrat"/>
                <a:ea typeface="Montserrat"/>
                <a:cs typeface="Montserrat"/>
                <a:sym typeface="Montserrat"/>
              </a:rPr>
              <a:t>0.0854</a:t>
            </a:r>
            <a:endParaRPr>
              <a:latin typeface="Montserrat"/>
              <a:ea typeface="Montserrat"/>
              <a:cs typeface="Montserrat"/>
              <a:sym typeface="Montserrat"/>
            </a:endParaRPr>
          </a:p>
          <a:p>
            <a:pPr indent="0" lvl="0" marL="0" rtl="0" algn="ctr">
              <a:spcBef>
                <a:spcPts val="640"/>
              </a:spcBef>
              <a:spcAft>
                <a:spcPts val="0"/>
              </a:spcAft>
              <a:buNone/>
            </a:pPr>
            <a:r>
              <a:t/>
            </a:r>
            <a:endParaRPr>
              <a:latin typeface="Montserrat"/>
              <a:ea typeface="Montserrat"/>
              <a:cs typeface="Montserrat"/>
              <a:sym typeface="Montserrat"/>
            </a:endParaRPr>
          </a:p>
        </p:txBody>
      </p:sp>
      <p:graphicFrame>
        <p:nvGraphicFramePr>
          <p:cNvPr id="307" name="Google Shape;307;p28"/>
          <p:cNvGraphicFramePr/>
          <p:nvPr/>
        </p:nvGraphicFramePr>
        <p:xfrm>
          <a:off x="8900100" y="3918138"/>
          <a:ext cx="3000000" cy="3000000"/>
        </p:xfrm>
        <a:graphic>
          <a:graphicData uri="http://schemas.openxmlformats.org/drawingml/2006/table">
            <a:tbl>
              <a:tblPr>
                <a:noFill/>
                <a:tableStyleId>{021C6F59-9F9A-4E29-83AA-440699EBBCEF}</a:tableStyleId>
              </a:tblPr>
              <a:tblGrid>
                <a:gridCol w="2209300"/>
                <a:gridCol w="2209300"/>
                <a:gridCol w="2004250"/>
                <a:gridCol w="2414350"/>
              </a:tblGrid>
              <a:tr h="932675">
                <a:tc>
                  <a:txBody>
                    <a:bodyPr/>
                    <a:lstStyle/>
                    <a:p>
                      <a:pPr indent="0" lvl="0" marL="0" rtl="0" algn="ctr">
                        <a:spcBef>
                          <a:spcPts val="0"/>
                        </a:spcBef>
                        <a:spcAft>
                          <a:spcPts val="0"/>
                        </a:spcAft>
                        <a:buNone/>
                      </a:pPr>
                      <a:r>
                        <a:rPr b="1" lang="en-US" sz="2000">
                          <a:latin typeface="Montserrat"/>
                          <a:ea typeface="Montserrat"/>
                          <a:cs typeface="Montserrat"/>
                          <a:sym typeface="Montserrat"/>
                        </a:rPr>
                        <a:t>Sensitivity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Specificity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Precision</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Misclassification</a:t>
                      </a:r>
                      <a:endParaRPr b="1" sz="2000">
                        <a:latin typeface="Montserrat"/>
                        <a:ea typeface="Montserrat"/>
                        <a:cs typeface="Montserrat"/>
                        <a:sym typeface="Montserrat"/>
                      </a:endParaRPr>
                    </a:p>
                  </a:txBody>
                  <a:tcPr marT="91425" marB="91425" marR="91425" marL="91425" anchor="ctr">
                    <a:solidFill>
                      <a:schemeClr val="lt2"/>
                    </a:solidFill>
                  </a:tcPr>
                </a:tc>
              </a:tr>
              <a:tr h="932675">
                <a:tc>
                  <a:txBody>
                    <a:bodyPr/>
                    <a:lstStyle/>
                    <a:p>
                      <a:pPr indent="0" lvl="0" marL="0" rtl="0" algn="ctr">
                        <a:spcBef>
                          <a:spcPts val="0"/>
                        </a:spcBef>
                        <a:spcAft>
                          <a:spcPts val="0"/>
                        </a:spcAft>
                        <a:buNone/>
                      </a:pPr>
                      <a:r>
                        <a:rPr lang="en-US" sz="2000">
                          <a:latin typeface="Montserrat"/>
                          <a:ea typeface="Montserrat"/>
                          <a:cs typeface="Montserrat"/>
                          <a:sym typeface="Montserrat"/>
                        </a:rPr>
                        <a:t>88.31%</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19.05</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80.00%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26.53%</a:t>
                      </a:r>
                      <a:endParaRPr sz="2000">
                        <a:latin typeface="Montserrat"/>
                        <a:ea typeface="Montserrat"/>
                        <a:cs typeface="Montserrat"/>
                        <a:sym typeface="Montserrat"/>
                      </a:endParaRPr>
                    </a:p>
                  </a:txBody>
                  <a:tcPr marT="91425" marB="91425" marR="91425" marL="91425" anchor="ctr"/>
                </a:tc>
              </a:tr>
            </a:tbl>
          </a:graphicData>
        </a:graphic>
      </p:graphicFrame>
      <p:pic>
        <p:nvPicPr>
          <p:cNvPr id="308" name="Google Shape;308;p28"/>
          <p:cNvPicPr preferRelativeResize="0"/>
          <p:nvPr/>
        </p:nvPicPr>
        <p:blipFill>
          <a:blip r:embed="rId4">
            <a:alphaModFix/>
          </a:blip>
          <a:stretch>
            <a:fillRect/>
          </a:stretch>
        </p:blipFill>
        <p:spPr>
          <a:xfrm>
            <a:off x="419650" y="2439874"/>
            <a:ext cx="7911998" cy="4821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312" name="Shape 312"/>
        <p:cNvGrpSpPr/>
        <p:nvPr/>
      </p:nvGrpSpPr>
      <p:grpSpPr>
        <a:xfrm>
          <a:off x="0" y="0"/>
          <a:ext cx="0" cy="0"/>
          <a:chOff x="0" y="0"/>
          <a:chExt cx="0" cy="0"/>
        </a:xfrm>
      </p:grpSpPr>
      <p:grpSp>
        <p:nvGrpSpPr>
          <p:cNvPr id="313" name="Google Shape;313;p29"/>
          <p:cNvGrpSpPr/>
          <p:nvPr/>
        </p:nvGrpSpPr>
        <p:grpSpPr>
          <a:xfrm>
            <a:off x="-1147115" y="0"/>
            <a:ext cx="20582229" cy="10287000"/>
            <a:chOff x="0" y="0"/>
            <a:chExt cx="27442972" cy="13716000"/>
          </a:xfrm>
        </p:grpSpPr>
        <p:sp>
          <p:nvSpPr>
            <p:cNvPr id="314" name="Google Shape;314;p29"/>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315" name="Google Shape;315;p29"/>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316" name="Google Shape;316;p29"/>
          <p:cNvGrpSpPr/>
          <p:nvPr/>
        </p:nvGrpSpPr>
        <p:grpSpPr>
          <a:xfrm>
            <a:off x="1028700" y="506776"/>
            <a:ext cx="13964133" cy="1393913"/>
            <a:chOff x="0" y="-38100"/>
            <a:chExt cx="2588731" cy="588000"/>
          </a:xfrm>
        </p:grpSpPr>
        <p:sp>
          <p:nvSpPr>
            <p:cNvPr id="317" name="Google Shape;317;p29"/>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9"/>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9" name="Google Shape;319;p29"/>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2. K Nearest Neighbours (KNN) - All Classes</a:t>
            </a:r>
            <a:endParaRPr b="1" sz="4500">
              <a:latin typeface="Lexend"/>
              <a:ea typeface="Lexend"/>
              <a:cs typeface="Lexend"/>
              <a:sym typeface="Lexend"/>
            </a:endParaRPr>
          </a:p>
        </p:txBody>
      </p:sp>
      <p:sp>
        <p:nvSpPr>
          <p:cNvPr id="320" name="Google Shape;320;p29"/>
          <p:cNvSpPr txBox="1"/>
          <p:nvPr>
            <p:ph idx="4294967295" type="body"/>
          </p:nvPr>
        </p:nvSpPr>
        <p:spPr>
          <a:xfrm>
            <a:off x="1703300" y="7496125"/>
            <a:ext cx="15576600" cy="1899900"/>
          </a:xfrm>
          <a:prstGeom prst="rect">
            <a:avLst/>
          </a:prstGeom>
          <a:solidFill>
            <a:srgbClr val="9FC5E8"/>
          </a:solidFill>
        </p:spPr>
        <p:txBody>
          <a:bodyPr anchorCtr="0" anchor="t" bIns="45700" lIns="91425" spcFirstLastPara="1" rIns="91425" wrap="square" tIns="45700">
            <a:normAutofit lnSpcReduction="20000"/>
          </a:bodyPr>
          <a:lstStyle/>
          <a:p>
            <a:pPr indent="0" lvl="0" marL="457200" rtl="0" algn="ctr">
              <a:spcBef>
                <a:spcPts val="640"/>
              </a:spcBef>
              <a:spcAft>
                <a:spcPts val="0"/>
              </a:spcAft>
              <a:buNone/>
            </a:pPr>
            <a:r>
              <a:t/>
            </a:r>
            <a:endParaRPr b="1">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Testing Accuracy</a:t>
            </a:r>
            <a:r>
              <a:rPr lang="en-US">
                <a:latin typeface="Montserrat"/>
                <a:ea typeface="Montserrat"/>
                <a:cs typeface="Montserrat"/>
                <a:sym typeface="Montserrat"/>
              </a:rPr>
              <a:t>:  80.95%</a:t>
            </a:r>
            <a:endParaRPr>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Kappa</a:t>
            </a:r>
            <a:r>
              <a:rPr lang="en-US">
                <a:latin typeface="Montserrat"/>
                <a:ea typeface="Montserrat"/>
                <a:cs typeface="Montserrat"/>
                <a:sym typeface="Montserrat"/>
              </a:rPr>
              <a:t>: 0</a:t>
            </a:r>
            <a:endParaRPr>
              <a:latin typeface="Montserrat"/>
              <a:ea typeface="Montserrat"/>
              <a:cs typeface="Montserrat"/>
              <a:sym typeface="Montserrat"/>
            </a:endParaRPr>
          </a:p>
          <a:p>
            <a:pPr indent="0" lvl="0" marL="0" rtl="0" algn="ctr">
              <a:spcBef>
                <a:spcPts val="640"/>
              </a:spcBef>
              <a:spcAft>
                <a:spcPts val="0"/>
              </a:spcAft>
              <a:buNone/>
            </a:pPr>
            <a:r>
              <a:t/>
            </a:r>
            <a:endParaRPr>
              <a:latin typeface="Montserrat"/>
              <a:ea typeface="Montserrat"/>
              <a:cs typeface="Montserrat"/>
              <a:sym typeface="Montserrat"/>
            </a:endParaRPr>
          </a:p>
        </p:txBody>
      </p:sp>
      <p:graphicFrame>
        <p:nvGraphicFramePr>
          <p:cNvPr id="321" name="Google Shape;321;p29"/>
          <p:cNvGraphicFramePr/>
          <p:nvPr/>
        </p:nvGraphicFramePr>
        <p:xfrm>
          <a:off x="8998275" y="2507213"/>
          <a:ext cx="3000000" cy="3000000"/>
        </p:xfrm>
        <a:graphic>
          <a:graphicData uri="http://schemas.openxmlformats.org/drawingml/2006/table">
            <a:tbl>
              <a:tblPr>
                <a:noFill/>
                <a:tableStyleId>{021C6F59-9F9A-4E29-83AA-440699EBBCEF}</a:tableStyleId>
              </a:tblPr>
              <a:tblGrid>
                <a:gridCol w="1793450"/>
                <a:gridCol w="1793450"/>
                <a:gridCol w="1793450"/>
                <a:gridCol w="1793450"/>
                <a:gridCol w="1793450"/>
              </a:tblGrid>
              <a:tr h="793600">
                <a:tc>
                  <a:txBody>
                    <a:bodyPr/>
                    <a:lstStyle/>
                    <a:p>
                      <a:pPr indent="0" lvl="0" marL="0" rtl="0" algn="ctr">
                        <a:spcBef>
                          <a:spcPts val="0"/>
                        </a:spcBef>
                        <a:spcAft>
                          <a:spcPts val="0"/>
                        </a:spcAft>
                        <a:buNone/>
                      </a:pPr>
                      <a:r>
                        <a:t/>
                      </a:r>
                      <a:endParaRPr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Sensitivity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Specificity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Precision</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Misclassification</a:t>
                      </a:r>
                      <a:endParaRPr b="1" sz="2000">
                        <a:latin typeface="Montserrat"/>
                        <a:ea typeface="Montserrat"/>
                        <a:cs typeface="Montserrat"/>
                        <a:sym typeface="Montserrat"/>
                      </a:endParaRPr>
                    </a:p>
                  </a:txBody>
                  <a:tcPr marT="91425" marB="91425" marR="91425" marL="91425" anchor="ctr">
                    <a:solidFill>
                      <a:schemeClr val="lt2"/>
                    </a:solidFill>
                  </a:tcPr>
                </a:tc>
              </a:tr>
              <a:tr h="793600">
                <a:tc>
                  <a:txBody>
                    <a:bodyPr/>
                    <a:lstStyle/>
                    <a:p>
                      <a:pPr indent="0" lvl="0" marL="0" rtl="0" algn="ctr">
                        <a:spcBef>
                          <a:spcPts val="0"/>
                        </a:spcBef>
                        <a:spcAft>
                          <a:spcPts val="0"/>
                        </a:spcAft>
                        <a:buNone/>
                      </a:pPr>
                      <a:r>
                        <a:rPr b="1" lang="en-US" sz="2000">
                          <a:latin typeface="Montserrat"/>
                          <a:ea typeface="Montserrat"/>
                          <a:cs typeface="Montserrat"/>
                          <a:sym typeface="Montserrat"/>
                        </a:rPr>
                        <a:t>Belly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r>
              <a:tr h="793600">
                <a:tc>
                  <a:txBody>
                    <a:bodyPr/>
                    <a:lstStyle/>
                    <a:p>
                      <a:pPr indent="0" lvl="0" marL="0" rtl="0" algn="ctr">
                        <a:spcBef>
                          <a:spcPts val="0"/>
                        </a:spcBef>
                        <a:spcAft>
                          <a:spcPts val="0"/>
                        </a:spcAft>
                        <a:buNone/>
                      </a:pPr>
                      <a:r>
                        <a:rPr b="1" lang="en-US" sz="2000">
                          <a:latin typeface="Montserrat"/>
                          <a:ea typeface="Montserrat"/>
                          <a:cs typeface="Montserrat"/>
                          <a:sym typeface="Montserrat"/>
                        </a:rPr>
                        <a:t>Burping</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Clr>
                          <a:schemeClr val="dk1"/>
                        </a:buClr>
                        <a:buSzPts val="1100"/>
                        <a:buFont typeface="Arial"/>
                        <a:buNone/>
                      </a:pPr>
                      <a:r>
                        <a:rPr lang="en-US" sz="2000">
                          <a:solidFill>
                            <a:schemeClr val="dk1"/>
                          </a:solidFill>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r>
              <a:tr h="793600">
                <a:tc>
                  <a:txBody>
                    <a:bodyPr/>
                    <a:lstStyle/>
                    <a:p>
                      <a:pPr indent="0" lvl="0" marL="0" rtl="0" algn="ctr">
                        <a:spcBef>
                          <a:spcPts val="0"/>
                        </a:spcBef>
                        <a:spcAft>
                          <a:spcPts val="0"/>
                        </a:spcAft>
                        <a:buNone/>
                      </a:pPr>
                      <a:r>
                        <a:rPr b="1" lang="en-US" sz="2000">
                          <a:latin typeface="Montserrat"/>
                          <a:ea typeface="Montserrat"/>
                          <a:cs typeface="Montserrat"/>
                          <a:sym typeface="Montserrat"/>
                        </a:rPr>
                        <a:t>Discomfort</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9.52%</a:t>
                      </a:r>
                      <a:endParaRPr sz="2000">
                        <a:latin typeface="Montserrat"/>
                        <a:ea typeface="Montserrat"/>
                        <a:cs typeface="Montserrat"/>
                        <a:sym typeface="Montserrat"/>
                      </a:endParaRPr>
                    </a:p>
                  </a:txBody>
                  <a:tcPr marT="91425" marB="91425" marR="91425" marL="91425" anchor="ctr"/>
                </a:tc>
              </a:tr>
              <a:tr h="793600">
                <a:tc>
                  <a:txBody>
                    <a:bodyPr/>
                    <a:lstStyle/>
                    <a:p>
                      <a:pPr indent="0" lvl="0" marL="0" rtl="0" algn="ctr">
                        <a:spcBef>
                          <a:spcPts val="0"/>
                        </a:spcBef>
                        <a:spcAft>
                          <a:spcPts val="0"/>
                        </a:spcAft>
                        <a:buNone/>
                      </a:pPr>
                      <a:r>
                        <a:rPr b="1" lang="en-US" sz="2000">
                          <a:latin typeface="Montserrat"/>
                          <a:ea typeface="Montserrat"/>
                          <a:cs typeface="Montserrat"/>
                          <a:sym typeface="Montserrat"/>
                        </a:rPr>
                        <a:t>Hungry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80.95</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19.04</a:t>
                      </a:r>
                      <a:endParaRPr sz="2000">
                        <a:latin typeface="Montserrat"/>
                        <a:ea typeface="Montserrat"/>
                        <a:cs typeface="Montserrat"/>
                        <a:sym typeface="Montserrat"/>
                      </a:endParaRPr>
                    </a:p>
                  </a:txBody>
                  <a:tcPr marT="91425" marB="91425" marR="91425" marL="91425" anchor="ctr"/>
                </a:tc>
              </a:tr>
              <a:tr h="793600">
                <a:tc>
                  <a:txBody>
                    <a:bodyPr/>
                    <a:lstStyle/>
                    <a:p>
                      <a:pPr indent="0" lvl="0" marL="0" rtl="0" algn="ctr">
                        <a:spcBef>
                          <a:spcPts val="0"/>
                        </a:spcBef>
                        <a:spcAft>
                          <a:spcPts val="0"/>
                        </a:spcAft>
                        <a:buNone/>
                      </a:pPr>
                      <a:r>
                        <a:rPr b="1" lang="en-US" sz="2000">
                          <a:latin typeface="Montserrat"/>
                          <a:ea typeface="Montserrat"/>
                          <a:cs typeface="Montserrat"/>
                          <a:sym typeface="Montserrat"/>
                        </a:rPr>
                        <a:t>Tired</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0.95%</a:t>
                      </a:r>
                      <a:endParaRPr sz="2000">
                        <a:latin typeface="Montserrat"/>
                        <a:ea typeface="Montserrat"/>
                        <a:cs typeface="Montserrat"/>
                        <a:sym typeface="Montserrat"/>
                      </a:endParaRPr>
                    </a:p>
                  </a:txBody>
                  <a:tcPr marT="91425" marB="91425" marR="91425" marL="91425" anchor="ctr"/>
                </a:tc>
              </a:tr>
            </a:tbl>
          </a:graphicData>
        </a:graphic>
      </p:graphicFrame>
      <p:pic>
        <p:nvPicPr>
          <p:cNvPr id="322" name="Google Shape;322;p29"/>
          <p:cNvPicPr preferRelativeResize="0"/>
          <p:nvPr/>
        </p:nvPicPr>
        <p:blipFill>
          <a:blip r:embed="rId4">
            <a:alphaModFix/>
          </a:blip>
          <a:stretch>
            <a:fillRect/>
          </a:stretch>
        </p:blipFill>
        <p:spPr>
          <a:xfrm>
            <a:off x="311450" y="2350250"/>
            <a:ext cx="8490275" cy="4918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326" name="Shape 326"/>
        <p:cNvGrpSpPr/>
        <p:nvPr/>
      </p:nvGrpSpPr>
      <p:grpSpPr>
        <a:xfrm>
          <a:off x="0" y="0"/>
          <a:ext cx="0" cy="0"/>
          <a:chOff x="0" y="0"/>
          <a:chExt cx="0" cy="0"/>
        </a:xfrm>
      </p:grpSpPr>
      <p:grpSp>
        <p:nvGrpSpPr>
          <p:cNvPr id="327" name="Google Shape;327;p30"/>
          <p:cNvGrpSpPr/>
          <p:nvPr/>
        </p:nvGrpSpPr>
        <p:grpSpPr>
          <a:xfrm>
            <a:off x="-1147115" y="0"/>
            <a:ext cx="20582229" cy="10287000"/>
            <a:chOff x="0" y="0"/>
            <a:chExt cx="27442972" cy="13716000"/>
          </a:xfrm>
        </p:grpSpPr>
        <p:sp>
          <p:nvSpPr>
            <p:cNvPr id="328" name="Google Shape;328;p30"/>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329" name="Google Shape;329;p30"/>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330" name="Google Shape;330;p30"/>
          <p:cNvGrpSpPr/>
          <p:nvPr/>
        </p:nvGrpSpPr>
        <p:grpSpPr>
          <a:xfrm>
            <a:off x="1028700" y="506776"/>
            <a:ext cx="13305042" cy="1393913"/>
            <a:chOff x="0" y="-38100"/>
            <a:chExt cx="2588731" cy="588000"/>
          </a:xfrm>
        </p:grpSpPr>
        <p:sp>
          <p:nvSpPr>
            <p:cNvPr id="331" name="Google Shape;331;p30"/>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0"/>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3" name="Google Shape;333;p30"/>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2. K Nearest Neighbours (KNN) - 2 Classes</a:t>
            </a:r>
            <a:endParaRPr b="1" sz="4500">
              <a:latin typeface="Lexend"/>
              <a:ea typeface="Lexend"/>
              <a:cs typeface="Lexend"/>
              <a:sym typeface="Lexend"/>
            </a:endParaRPr>
          </a:p>
        </p:txBody>
      </p:sp>
      <p:sp>
        <p:nvSpPr>
          <p:cNvPr id="334" name="Google Shape;334;p30"/>
          <p:cNvSpPr txBox="1"/>
          <p:nvPr>
            <p:ph idx="4294967295" type="body"/>
          </p:nvPr>
        </p:nvSpPr>
        <p:spPr>
          <a:xfrm>
            <a:off x="1703300" y="7496125"/>
            <a:ext cx="15576600" cy="1899900"/>
          </a:xfrm>
          <a:prstGeom prst="rect">
            <a:avLst/>
          </a:prstGeom>
          <a:solidFill>
            <a:srgbClr val="9FC5E8"/>
          </a:solidFill>
        </p:spPr>
        <p:txBody>
          <a:bodyPr anchorCtr="0" anchor="t" bIns="45700" lIns="91425" spcFirstLastPara="1" rIns="91425" wrap="square" tIns="45700">
            <a:normAutofit lnSpcReduction="20000"/>
          </a:bodyPr>
          <a:lstStyle/>
          <a:p>
            <a:pPr indent="0" lvl="0" marL="457200" rtl="0" algn="ctr">
              <a:spcBef>
                <a:spcPts val="640"/>
              </a:spcBef>
              <a:spcAft>
                <a:spcPts val="0"/>
              </a:spcAft>
              <a:buNone/>
            </a:pPr>
            <a:r>
              <a:t/>
            </a:r>
            <a:endParaRPr b="1">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Testing Accuracy</a:t>
            </a:r>
            <a:r>
              <a:rPr lang="en-US">
                <a:latin typeface="Montserrat"/>
                <a:ea typeface="Montserrat"/>
                <a:cs typeface="Montserrat"/>
                <a:sym typeface="Montserrat"/>
              </a:rPr>
              <a:t>:  84.69%</a:t>
            </a:r>
            <a:endParaRPr>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Kappa</a:t>
            </a:r>
            <a:r>
              <a:rPr lang="en-US">
                <a:latin typeface="Montserrat"/>
                <a:ea typeface="Montserrat"/>
                <a:cs typeface="Montserrat"/>
                <a:sym typeface="Montserrat"/>
              </a:rPr>
              <a:t>: </a:t>
            </a:r>
            <a:r>
              <a:rPr lang="en-US">
                <a:latin typeface="Montserrat"/>
                <a:ea typeface="Montserrat"/>
                <a:cs typeface="Montserrat"/>
                <a:sym typeface="Montserrat"/>
              </a:rPr>
              <a:t>-0.0194</a:t>
            </a:r>
            <a:endParaRPr>
              <a:latin typeface="Montserrat"/>
              <a:ea typeface="Montserrat"/>
              <a:cs typeface="Montserrat"/>
              <a:sym typeface="Montserrat"/>
            </a:endParaRPr>
          </a:p>
          <a:p>
            <a:pPr indent="0" lvl="0" marL="0" rtl="0" algn="ctr">
              <a:spcBef>
                <a:spcPts val="640"/>
              </a:spcBef>
              <a:spcAft>
                <a:spcPts val="0"/>
              </a:spcAft>
              <a:buNone/>
            </a:pPr>
            <a:r>
              <a:t/>
            </a:r>
            <a:endParaRPr>
              <a:latin typeface="Montserrat"/>
              <a:ea typeface="Montserrat"/>
              <a:cs typeface="Montserrat"/>
              <a:sym typeface="Montserrat"/>
            </a:endParaRPr>
          </a:p>
        </p:txBody>
      </p:sp>
      <p:graphicFrame>
        <p:nvGraphicFramePr>
          <p:cNvPr id="335" name="Google Shape;335;p30"/>
          <p:cNvGraphicFramePr/>
          <p:nvPr/>
        </p:nvGraphicFramePr>
        <p:xfrm>
          <a:off x="8900100" y="3918138"/>
          <a:ext cx="3000000" cy="3000000"/>
        </p:xfrm>
        <a:graphic>
          <a:graphicData uri="http://schemas.openxmlformats.org/drawingml/2006/table">
            <a:tbl>
              <a:tblPr>
                <a:noFill/>
                <a:tableStyleId>{021C6F59-9F9A-4E29-83AA-440699EBBCEF}</a:tableStyleId>
              </a:tblPr>
              <a:tblGrid>
                <a:gridCol w="2209300"/>
                <a:gridCol w="2209300"/>
                <a:gridCol w="2004250"/>
                <a:gridCol w="2414350"/>
              </a:tblGrid>
              <a:tr h="932675">
                <a:tc>
                  <a:txBody>
                    <a:bodyPr/>
                    <a:lstStyle/>
                    <a:p>
                      <a:pPr indent="0" lvl="0" marL="0" rtl="0" algn="ctr">
                        <a:spcBef>
                          <a:spcPts val="0"/>
                        </a:spcBef>
                        <a:spcAft>
                          <a:spcPts val="0"/>
                        </a:spcAft>
                        <a:buNone/>
                      </a:pPr>
                      <a:r>
                        <a:rPr b="1" lang="en-US" sz="2000">
                          <a:latin typeface="Montserrat"/>
                          <a:ea typeface="Montserrat"/>
                          <a:cs typeface="Montserrat"/>
                          <a:sym typeface="Montserrat"/>
                        </a:rPr>
                        <a:t>Sensitivity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Specificity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Precision</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Misclassification</a:t>
                      </a:r>
                      <a:endParaRPr b="1" sz="2000">
                        <a:latin typeface="Montserrat"/>
                        <a:ea typeface="Montserrat"/>
                        <a:cs typeface="Montserrat"/>
                        <a:sym typeface="Montserrat"/>
                      </a:endParaRPr>
                    </a:p>
                  </a:txBody>
                  <a:tcPr marT="91425" marB="91425" marR="91425" marL="91425" anchor="ctr">
                    <a:solidFill>
                      <a:schemeClr val="lt2"/>
                    </a:solidFill>
                  </a:tcPr>
                </a:tc>
              </a:tr>
              <a:tr h="932675">
                <a:tc>
                  <a:txBody>
                    <a:bodyPr/>
                    <a:lstStyle/>
                    <a:p>
                      <a:pPr indent="0" lvl="0" marL="0" rtl="0" algn="ctr">
                        <a:spcBef>
                          <a:spcPts val="0"/>
                        </a:spcBef>
                        <a:spcAft>
                          <a:spcPts val="0"/>
                        </a:spcAft>
                        <a:buNone/>
                      </a:pPr>
                      <a:r>
                        <a:rPr lang="en-US" sz="2000">
                          <a:latin typeface="Montserrat"/>
                          <a:ea typeface="Montserrat"/>
                          <a:cs typeface="Montserrat"/>
                          <a:sym typeface="Montserrat"/>
                        </a:rPr>
                        <a:t>98.81</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85.57%</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15.31%</a:t>
                      </a:r>
                      <a:endParaRPr sz="2000">
                        <a:latin typeface="Montserrat"/>
                        <a:ea typeface="Montserrat"/>
                        <a:cs typeface="Montserrat"/>
                        <a:sym typeface="Montserrat"/>
                      </a:endParaRPr>
                    </a:p>
                  </a:txBody>
                  <a:tcPr marT="91425" marB="91425" marR="91425" marL="91425" anchor="ctr"/>
                </a:tc>
              </a:tr>
            </a:tbl>
          </a:graphicData>
        </a:graphic>
      </p:graphicFrame>
      <p:pic>
        <p:nvPicPr>
          <p:cNvPr id="336" name="Google Shape;336;p30"/>
          <p:cNvPicPr preferRelativeResize="0"/>
          <p:nvPr/>
        </p:nvPicPr>
        <p:blipFill>
          <a:blip r:embed="rId4">
            <a:alphaModFix/>
          </a:blip>
          <a:stretch>
            <a:fillRect/>
          </a:stretch>
        </p:blipFill>
        <p:spPr>
          <a:xfrm>
            <a:off x="484975" y="2154400"/>
            <a:ext cx="8179224" cy="5165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340" name="Shape 340"/>
        <p:cNvGrpSpPr/>
        <p:nvPr/>
      </p:nvGrpSpPr>
      <p:grpSpPr>
        <a:xfrm>
          <a:off x="0" y="0"/>
          <a:ext cx="0" cy="0"/>
          <a:chOff x="0" y="0"/>
          <a:chExt cx="0" cy="0"/>
        </a:xfrm>
      </p:grpSpPr>
      <p:grpSp>
        <p:nvGrpSpPr>
          <p:cNvPr id="341" name="Google Shape;341;p31"/>
          <p:cNvGrpSpPr/>
          <p:nvPr/>
        </p:nvGrpSpPr>
        <p:grpSpPr>
          <a:xfrm>
            <a:off x="-1147115" y="0"/>
            <a:ext cx="20582229" cy="10287000"/>
            <a:chOff x="0" y="0"/>
            <a:chExt cx="27442972" cy="13716000"/>
          </a:xfrm>
        </p:grpSpPr>
        <p:sp>
          <p:nvSpPr>
            <p:cNvPr id="342" name="Google Shape;342;p31"/>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343" name="Google Shape;343;p31"/>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344" name="Google Shape;344;p31"/>
          <p:cNvGrpSpPr/>
          <p:nvPr/>
        </p:nvGrpSpPr>
        <p:grpSpPr>
          <a:xfrm>
            <a:off x="1028700" y="506776"/>
            <a:ext cx="10131258" cy="1393913"/>
            <a:chOff x="0" y="-38100"/>
            <a:chExt cx="2588731" cy="588000"/>
          </a:xfrm>
        </p:grpSpPr>
        <p:sp>
          <p:nvSpPr>
            <p:cNvPr id="345" name="Google Shape;345;p31"/>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1"/>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7" name="Google Shape;347;p31"/>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3. Random Forest - All Classes</a:t>
            </a:r>
            <a:endParaRPr b="1" sz="4500">
              <a:latin typeface="Lexend"/>
              <a:ea typeface="Lexend"/>
              <a:cs typeface="Lexend"/>
              <a:sym typeface="Lexend"/>
            </a:endParaRPr>
          </a:p>
        </p:txBody>
      </p:sp>
      <p:sp>
        <p:nvSpPr>
          <p:cNvPr id="348" name="Google Shape;348;p31"/>
          <p:cNvSpPr txBox="1"/>
          <p:nvPr>
            <p:ph idx="4294967295" type="body"/>
          </p:nvPr>
        </p:nvSpPr>
        <p:spPr>
          <a:xfrm>
            <a:off x="1703300" y="7496125"/>
            <a:ext cx="15576600" cy="1899900"/>
          </a:xfrm>
          <a:prstGeom prst="rect">
            <a:avLst/>
          </a:prstGeom>
          <a:solidFill>
            <a:srgbClr val="9FC5E8"/>
          </a:solidFill>
        </p:spPr>
        <p:txBody>
          <a:bodyPr anchorCtr="0" anchor="t" bIns="45700" lIns="91425" spcFirstLastPara="1" rIns="91425" wrap="square" tIns="45700">
            <a:normAutofit lnSpcReduction="20000"/>
          </a:bodyPr>
          <a:lstStyle/>
          <a:p>
            <a:pPr indent="0" lvl="0" marL="457200" rtl="0" algn="ctr">
              <a:spcBef>
                <a:spcPts val="640"/>
              </a:spcBef>
              <a:spcAft>
                <a:spcPts val="0"/>
              </a:spcAft>
              <a:buNone/>
            </a:pPr>
            <a:r>
              <a:t/>
            </a:r>
            <a:endParaRPr b="1">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Accuracy</a:t>
            </a:r>
            <a:r>
              <a:rPr lang="en-US">
                <a:latin typeface="Montserrat"/>
                <a:ea typeface="Montserrat"/>
                <a:cs typeface="Montserrat"/>
                <a:sym typeface="Montserrat"/>
              </a:rPr>
              <a:t>:  Train: 100%, Test: 81.63%</a:t>
            </a:r>
            <a:endParaRPr>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Kappa</a:t>
            </a:r>
            <a:r>
              <a:rPr lang="en-US">
                <a:latin typeface="Montserrat"/>
                <a:ea typeface="Montserrat"/>
                <a:cs typeface="Montserrat"/>
                <a:sym typeface="Montserrat"/>
              </a:rPr>
              <a:t>: -0.0144</a:t>
            </a:r>
            <a:endParaRPr>
              <a:latin typeface="Montserrat"/>
              <a:ea typeface="Montserrat"/>
              <a:cs typeface="Montserrat"/>
              <a:sym typeface="Montserrat"/>
            </a:endParaRPr>
          </a:p>
          <a:p>
            <a:pPr indent="0" lvl="0" marL="0" rtl="0" algn="ctr">
              <a:spcBef>
                <a:spcPts val="640"/>
              </a:spcBef>
              <a:spcAft>
                <a:spcPts val="0"/>
              </a:spcAft>
              <a:buNone/>
            </a:pPr>
            <a:r>
              <a:t/>
            </a:r>
            <a:endParaRPr>
              <a:latin typeface="Montserrat"/>
              <a:ea typeface="Montserrat"/>
              <a:cs typeface="Montserrat"/>
              <a:sym typeface="Montserrat"/>
            </a:endParaRPr>
          </a:p>
        </p:txBody>
      </p:sp>
      <p:graphicFrame>
        <p:nvGraphicFramePr>
          <p:cNvPr id="349" name="Google Shape;349;p31"/>
          <p:cNvGraphicFramePr/>
          <p:nvPr/>
        </p:nvGraphicFramePr>
        <p:xfrm>
          <a:off x="8998275" y="2345463"/>
          <a:ext cx="3000000" cy="3000000"/>
        </p:xfrm>
        <a:graphic>
          <a:graphicData uri="http://schemas.openxmlformats.org/drawingml/2006/table">
            <a:tbl>
              <a:tblPr>
                <a:noFill/>
                <a:tableStyleId>{021C6F59-9F9A-4E29-83AA-440699EBBCEF}</a:tableStyleId>
              </a:tblPr>
              <a:tblGrid>
                <a:gridCol w="1793450"/>
                <a:gridCol w="1793450"/>
                <a:gridCol w="1793450"/>
                <a:gridCol w="1793450"/>
                <a:gridCol w="1793450"/>
              </a:tblGrid>
              <a:tr h="812050">
                <a:tc>
                  <a:txBody>
                    <a:bodyPr/>
                    <a:lstStyle/>
                    <a:p>
                      <a:pPr indent="0" lvl="0" marL="0" rtl="0" algn="ctr">
                        <a:spcBef>
                          <a:spcPts val="0"/>
                        </a:spcBef>
                        <a:spcAft>
                          <a:spcPts val="0"/>
                        </a:spcAft>
                        <a:buNone/>
                      </a:pPr>
                      <a:r>
                        <a:t/>
                      </a:r>
                      <a:endParaRPr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Sensitivity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Specificity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Precision</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Misclassification</a:t>
                      </a:r>
                      <a:endParaRPr b="1" sz="2000">
                        <a:latin typeface="Montserrat"/>
                        <a:ea typeface="Montserrat"/>
                        <a:cs typeface="Montserrat"/>
                        <a:sym typeface="Montserrat"/>
                      </a:endParaRPr>
                    </a:p>
                  </a:txBody>
                  <a:tcPr marT="91425" marB="91425" marR="91425" marL="91425" anchor="ctr">
                    <a:solidFill>
                      <a:schemeClr val="lt2"/>
                    </a:solidFill>
                  </a:tcPr>
                </a:tc>
              </a:tr>
              <a:tr h="812050">
                <a:tc>
                  <a:txBody>
                    <a:bodyPr/>
                    <a:lstStyle/>
                    <a:p>
                      <a:pPr indent="0" lvl="0" marL="0" rtl="0" algn="ctr">
                        <a:spcBef>
                          <a:spcPts val="0"/>
                        </a:spcBef>
                        <a:spcAft>
                          <a:spcPts val="0"/>
                        </a:spcAft>
                        <a:buNone/>
                      </a:pPr>
                      <a:r>
                        <a:rPr b="1" lang="en-US" sz="2000">
                          <a:latin typeface="Montserrat"/>
                          <a:ea typeface="Montserrat"/>
                          <a:cs typeface="Montserrat"/>
                          <a:sym typeface="Montserrat"/>
                        </a:rPr>
                        <a:t>Belly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94.90%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5.10%</a:t>
                      </a:r>
                      <a:endParaRPr sz="2000">
                        <a:latin typeface="Montserrat"/>
                        <a:ea typeface="Montserrat"/>
                        <a:cs typeface="Montserrat"/>
                        <a:sym typeface="Montserrat"/>
                      </a:endParaRPr>
                    </a:p>
                  </a:txBody>
                  <a:tcPr marT="91425" marB="91425" marR="91425" marL="91425" anchor="ctr"/>
                </a:tc>
              </a:tr>
              <a:tr h="812050">
                <a:tc>
                  <a:txBody>
                    <a:bodyPr/>
                    <a:lstStyle/>
                    <a:p>
                      <a:pPr indent="0" lvl="0" marL="0" rtl="0" algn="ctr">
                        <a:spcBef>
                          <a:spcPts val="0"/>
                        </a:spcBef>
                        <a:spcAft>
                          <a:spcPts val="0"/>
                        </a:spcAft>
                        <a:buNone/>
                      </a:pPr>
                      <a:r>
                        <a:rPr b="1" lang="en-US" sz="2000">
                          <a:latin typeface="Montserrat"/>
                          <a:ea typeface="Montserrat"/>
                          <a:cs typeface="Montserrat"/>
                          <a:sym typeface="Montserrat"/>
                        </a:rPr>
                        <a:t>Burping</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en-US" sz="2000">
                          <a:solidFill>
                            <a:schemeClr val="dk1"/>
                          </a:solidFill>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en-US" sz="2000">
                          <a:solidFill>
                            <a:schemeClr val="dk1"/>
                          </a:solidFill>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r>
              <a:tr h="812050">
                <a:tc>
                  <a:txBody>
                    <a:bodyPr/>
                    <a:lstStyle/>
                    <a:p>
                      <a:pPr indent="0" lvl="0" marL="0" rtl="0" algn="ctr">
                        <a:spcBef>
                          <a:spcPts val="0"/>
                        </a:spcBef>
                        <a:spcAft>
                          <a:spcPts val="0"/>
                        </a:spcAft>
                        <a:buNone/>
                      </a:pPr>
                      <a:r>
                        <a:rPr b="1" lang="en-US" sz="2000">
                          <a:latin typeface="Montserrat"/>
                          <a:ea typeface="Montserrat"/>
                          <a:cs typeface="Montserrat"/>
                          <a:sym typeface="Montserrat"/>
                        </a:rPr>
                        <a:t>Discomfort</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95.92%</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en-US" sz="2000">
                          <a:solidFill>
                            <a:schemeClr val="dk1"/>
                          </a:solidFill>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lang="en-US" sz="2000">
                          <a:solidFill>
                            <a:schemeClr val="dk1"/>
                          </a:solidFill>
                          <a:latin typeface="Montserrat"/>
                          <a:ea typeface="Montserrat"/>
                          <a:cs typeface="Montserrat"/>
                          <a:sym typeface="Montserrat"/>
                        </a:rPr>
                        <a:t>4.08%</a:t>
                      </a:r>
                      <a:endParaRPr sz="2000">
                        <a:latin typeface="Montserrat"/>
                        <a:ea typeface="Montserrat"/>
                        <a:cs typeface="Montserrat"/>
                        <a:sym typeface="Montserrat"/>
                      </a:endParaRPr>
                    </a:p>
                  </a:txBody>
                  <a:tcPr marT="91425" marB="91425" marR="91425" marL="91425" anchor="ctr"/>
                </a:tc>
              </a:tr>
              <a:tr h="812050">
                <a:tc>
                  <a:txBody>
                    <a:bodyPr/>
                    <a:lstStyle/>
                    <a:p>
                      <a:pPr indent="0" lvl="0" marL="0" rtl="0" algn="ctr">
                        <a:spcBef>
                          <a:spcPts val="0"/>
                        </a:spcBef>
                        <a:spcAft>
                          <a:spcPts val="0"/>
                        </a:spcAft>
                        <a:buNone/>
                      </a:pPr>
                      <a:r>
                        <a:rPr b="1" lang="en-US" sz="2000">
                          <a:latin typeface="Montserrat"/>
                          <a:ea typeface="Montserrat"/>
                          <a:cs typeface="Montserrat"/>
                          <a:sym typeface="Montserrat"/>
                        </a:rPr>
                        <a:t>Hungry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82.47%</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98.77%</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18.37%</a:t>
                      </a:r>
                      <a:endParaRPr sz="2000">
                        <a:latin typeface="Montserrat"/>
                        <a:ea typeface="Montserrat"/>
                        <a:cs typeface="Montserrat"/>
                        <a:sym typeface="Montserrat"/>
                      </a:endParaRPr>
                    </a:p>
                  </a:txBody>
                  <a:tcPr marT="91425" marB="91425" marR="91425" marL="91425" anchor="ctr"/>
                </a:tc>
              </a:tr>
              <a:tr h="812050">
                <a:tc>
                  <a:txBody>
                    <a:bodyPr/>
                    <a:lstStyle/>
                    <a:p>
                      <a:pPr indent="0" lvl="0" marL="0" rtl="0" algn="ctr">
                        <a:spcBef>
                          <a:spcPts val="0"/>
                        </a:spcBef>
                        <a:spcAft>
                          <a:spcPts val="0"/>
                        </a:spcAft>
                        <a:buNone/>
                      </a:pPr>
                      <a:r>
                        <a:rPr b="1" lang="en-US" sz="2000">
                          <a:latin typeface="Montserrat"/>
                          <a:ea typeface="Montserrat"/>
                          <a:cs typeface="Montserrat"/>
                          <a:sym typeface="Montserrat"/>
                        </a:rPr>
                        <a:t>Tired</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91.75%</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9.18%</a:t>
                      </a:r>
                      <a:endParaRPr sz="2000">
                        <a:latin typeface="Montserrat"/>
                        <a:ea typeface="Montserrat"/>
                        <a:cs typeface="Montserrat"/>
                        <a:sym typeface="Montserrat"/>
                      </a:endParaRPr>
                    </a:p>
                  </a:txBody>
                  <a:tcPr marT="91425" marB="91425" marR="91425" marL="91425" anchor="ctr"/>
                </a:tc>
              </a:tr>
            </a:tbl>
          </a:graphicData>
        </a:graphic>
      </p:graphicFrame>
      <p:pic>
        <p:nvPicPr>
          <p:cNvPr id="350" name="Google Shape;350;p31"/>
          <p:cNvPicPr preferRelativeResize="0"/>
          <p:nvPr/>
        </p:nvPicPr>
        <p:blipFill>
          <a:blip r:embed="rId4">
            <a:alphaModFix/>
          </a:blip>
          <a:stretch>
            <a:fillRect/>
          </a:stretch>
        </p:blipFill>
        <p:spPr>
          <a:xfrm>
            <a:off x="373775" y="2179038"/>
            <a:ext cx="8152996" cy="50387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354" name="Shape 354"/>
        <p:cNvGrpSpPr/>
        <p:nvPr/>
      </p:nvGrpSpPr>
      <p:grpSpPr>
        <a:xfrm>
          <a:off x="0" y="0"/>
          <a:ext cx="0" cy="0"/>
          <a:chOff x="0" y="0"/>
          <a:chExt cx="0" cy="0"/>
        </a:xfrm>
      </p:grpSpPr>
      <p:grpSp>
        <p:nvGrpSpPr>
          <p:cNvPr id="355" name="Google Shape;355;p32"/>
          <p:cNvGrpSpPr/>
          <p:nvPr/>
        </p:nvGrpSpPr>
        <p:grpSpPr>
          <a:xfrm>
            <a:off x="-1147115" y="0"/>
            <a:ext cx="20582229" cy="10287000"/>
            <a:chOff x="0" y="0"/>
            <a:chExt cx="27442972" cy="13716000"/>
          </a:xfrm>
        </p:grpSpPr>
        <p:sp>
          <p:nvSpPr>
            <p:cNvPr id="356" name="Google Shape;356;p32"/>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357" name="Google Shape;357;p32"/>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358" name="Google Shape;358;p32"/>
          <p:cNvGrpSpPr/>
          <p:nvPr/>
        </p:nvGrpSpPr>
        <p:grpSpPr>
          <a:xfrm>
            <a:off x="1028700" y="506776"/>
            <a:ext cx="9843391" cy="1393913"/>
            <a:chOff x="0" y="-38100"/>
            <a:chExt cx="2588731" cy="588000"/>
          </a:xfrm>
        </p:grpSpPr>
        <p:sp>
          <p:nvSpPr>
            <p:cNvPr id="359" name="Google Shape;359;p32"/>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2"/>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1" name="Google Shape;361;p32"/>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3</a:t>
            </a:r>
            <a:r>
              <a:rPr b="1" lang="en-US" sz="4500">
                <a:solidFill>
                  <a:srgbClr val="D34937"/>
                </a:solidFill>
                <a:latin typeface="Lexend"/>
                <a:ea typeface="Lexend"/>
                <a:cs typeface="Lexend"/>
                <a:sym typeface="Lexend"/>
              </a:rPr>
              <a:t>. Random Forest - 2 Classes</a:t>
            </a:r>
            <a:endParaRPr b="1" sz="4500">
              <a:latin typeface="Lexend"/>
              <a:ea typeface="Lexend"/>
              <a:cs typeface="Lexend"/>
              <a:sym typeface="Lexend"/>
            </a:endParaRPr>
          </a:p>
        </p:txBody>
      </p:sp>
      <p:sp>
        <p:nvSpPr>
          <p:cNvPr id="362" name="Google Shape;362;p32"/>
          <p:cNvSpPr txBox="1"/>
          <p:nvPr>
            <p:ph idx="4294967295" type="body"/>
          </p:nvPr>
        </p:nvSpPr>
        <p:spPr>
          <a:xfrm>
            <a:off x="1703300" y="7496125"/>
            <a:ext cx="15576600" cy="1899900"/>
          </a:xfrm>
          <a:prstGeom prst="rect">
            <a:avLst/>
          </a:prstGeom>
          <a:solidFill>
            <a:srgbClr val="9FC5E8"/>
          </a:solidFill>
        </p:spPr>
        <p:txBody>
          <a:bodyPr anchorCtr="0" anchor="t" bIns="45700" lIns="91425" spcFirstLastPara="1" rIns="91425" wrap="square" tIns="45700">
            <a:normAutofit lnSpcReduction="20000"/>
          </a:bodyPr>
          <a:lstStyle/>
          <a:p>
            <a:pPr indent="0" lvl="0" marL="457200" rtl="0" algn="ctr">
              <a:spcBef>
                <a:spcPts val="640"/>
              </a:spcBef>
              <a:spcAft>
                <a:spcPts val="0"/>
              </a:spcAft>
              <a:buNone/>
            </a:pPr>
            <a:r>
              <a:t/>
            </a:r>
            <a:endParaRPr b="1">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Accuracy</a:t>
            </a:r>
            <a:r>
              <a:rPr lang="en-US">
                <a:latin typeface="Montserrat"/>
                <a:ea typeface="Montserrat"/>
                <a:cs typeface="Montserrat"/>
                <a:sym typeface="Montserrat"/>
              </a:rPr>
              <a:t>:  Train: 100%, Test: 85.71%</a:t>
            </a:r>
            <a:endParaRPr>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Kappa</a:t>
            </a:r>
            <a:r>
              <a:rPr lang="en-US">
                <a:latin typeface="Montserrat"/>
                <a:ea typeface="Montserrat"/>
                <a:cs typeface="Montserrat"/>
                <a:sym typeface="Montserrat"/>
              </a:rPr>
              <a:t>: </a:t>
            </a:r>
            <a:r>
              <a:rPr lang="en-US">
                <a:latin typeface="Montserrat"/>
                <a:ea typeface="Montserrat"/>
                <a:cs typeface="Montserrat"/>
                <a:sym typeface="Montserrat"/>
              </a:rPr>
              <a:t>0.0792</a:t>
            </a:r>
            <a:endParaRPr>
              <a:latin typeface="Montserrat"/>
              <a:ea typeface="Montserrat"/>
              <a:cs typeface="Montserrat"/>
              <a:sym typeface="Montserrat"/>
            </a:endParaRPr>
          </a:p>
          <a:p>
            <a:pPr indent="0" lvl="0" marL="0" rtl="0" algn="ctr">
              <a:spcBef>
                <a:spcPts val="640"/>
              </a:spcBef>
              <a:spcAft>
                <a:spcPts val="0"/>
              </a:spcAft>
              <a:buNone/>
            </a:pPr>
            <a:r>
              <a:t/>
            </a:r>
            <a:endParaRPr>
              <a:latin typeface="Montserrat"/>
              <a:ea typeface="Montserrat"/>
              <a:cs typeface="Montserrat"/>
              <a:sym typeface="Montserrat"/>
            </a:endParaRPr>
          </a:p>
        </p:txBody>
      </p:sp>
      <p:graphicFrame>
        <p:nvGraphicFramePr>
          <p:cNvPr id="363" name="Google Shape;363;p32"/>
          <p:cNvGraphicFramePr/>
          <p:nvPr/>
        </p:nvGraphicFramePr>
        <p:xfrm>
          <a:off x="8900100" y="3918138"/>
          <a:ext cx="3000000" cy="3000000"/>
        </p:xfrm>
        <a:graphic>
          <a:graphicData uri="http://schemas.openxmlformats.org/drawingml/2006/table">
            <a:tbl>
              <a:tblPr>
                <a:noFill/>
                <a:tableStyleId>{021C6F59-9F9A-4E29-83AA-440699EBBCEF}</a:tableStyleId>
              </a:tblPr>
              <a:tblGrid>
                <a:gridCol w="2209300"/>
                <a:gridCol w="2209300"/>
                <a:gridCol w="2004250"/>
                <a:gridCol w="2414350"/>
              </a:tblGrid>
              <a:tr h="932675">
                <a:tc>
                  <a:txBody>
                    <a:bodyPr/>
                    <a:lstStyle/>
                    <a:p>
                      <a:pPr indent="0" lvl="0" marL="0" rtl="0" algn="ctr">
                        <a:spcBef>
                          <a:spcPts val="0"/>
                        </a:spcBef>
                        <a:spcAft>
                          <a:spcPts val="0"/>
                        </a:spcAft>
                        <a:buNone/>
                      </a:pPr>
                      <a:r>
                        <a:rPr b="1" lang="en-US" sz="2000">
                          <a:latin typeface="Montserrat"/>
                          <a:ea typeface="Montserrat"/>
                          <a:cs typeface="Montserrat"/>
                          <a:sym typeface="Montserrat"/>
                        </a:rPr>
                        <a:t>Sensitivity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Specificity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Precision</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Misclassification</a:t>
                      </a:r>
                      <a:endParaRPr b="1" sz="2000">
                        <a:latin typeface="Montserrat"/>
                        <a:ea typeface="Montserrat"/>
                        <a:cs typeface="Montserrat"/>
                        <a:sym typeface="Montserrat"/>
                      </a:endParaRPr>
                    </a:p>
                  </a:txBody>
                  <a:tcPr marT="91425" marB="91425" marR="91425" marL="91425" anchor="ctr">
                    <a:solidFill>
                      <a:schemeClr val="lt2"/>
                    </a:solidFill>
                  </a:tcPr>
                </a:tc>
              </a:tr>
              <a:tr h="932675">
                <a:tc>
                  <a:txBody>
                    <a:bodyPr/>
                    <a:lstStyle/>
                    <a:p>
                      <a:pPr indent="0" lvl="0" marL="0" rtl="0" algn="ctr">
                        <a:spcBef>
                          <a:spcPts val="0"/>
                        </a:spcBef>
                        <a:spcAft>
                          <a:spcPts val="0"/>
                        </a:spcAft>
                        <a:buNone/>
                      </a:pPr>
                      <a:r>
                        <a:rPr lang="en-US" sz="2000">
                          <a:latin typeface="Montserrat"/>
                          <a:ea typeface="Montserrat"/>
                          <a:cs typeface="Montserrat"/>
                          <a:sym typeface="Montserrat"/>
                        </a:rPr>
                        <a:t>87.37%</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33.33%</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97.65%</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14.29%</a:t>
                      </a:r>
                      <a:endParaRPr sz="2000">
                        <a:latin typeface="Montserrat"/>
                        <a:ea typeface="Montserrat"/>
                        <a:cs typeface="Montserrat"/>
                        <a:sym typeface="Montserrat"/>
                      </a:endParaRPr>
                    </a:p>
                  </a:txBody>
                  <a:tcPr marT="91425" marB="91425" marR="91425" marL="91425" anchor="ctr"/>
                </a:tc>
              </a:tr>
            </a:tbl>
          </a:graphicData>
        </a:graphic>
      </p:graphicFrame>
      <p:pic>
        <p:nvPicPr>
          <p:cNvPr id="364" name="Google Shape;364;p32"/>
          <p:cNvPicPr preferRelativeResize="0"/>
          <p:nvPr/>
        </p:nvPicPr>
        <p:blipFill>
          <a:blip r:embed="rId4">
            <a:alphaModFix/>
          </a:blip>
          <a:stretch>
            <a:fillRect/>
          </a:stretch>
        </p:blipFill>
        <p:spPr>
          <a:xfrm>
            <a:off x="502925" y="2186050"/>
            <a:ext cx="8138153" cy="50247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368" name="Shape 368"/>
        <p:cNvGrpSpPr/>
        <p:nvPr/>
      </p:nvGrpSpPr>
      <p:grpSpPr>
        <a:xfrm>
          <a:off x="0" y="0"/>
          <a:ext cx="0" cy="0"/>
          <a:chOff x="0" y="0"/>
          <a:chExt cx="0" cy="0"/>
        </a:xfrm>
      </p:grpSpPr>
      <p:grpSp>
        <p:nvGrpSpPr>
          <p:cNvPr id="369" name="Google Shape;369;p33"/>
          <p:cNvGrpSpPr/>
          <p:nvPr/>
        </p:nvGrpSpPr>
        <p:grpSpPr>
          <a:xfrm>
            <a:off x="-1147115" y="0"/>
            <a:ext cx="20582229" cy="10287000"/>
            <a:chOff x="0" y="0"/>
            <a:chExt cx="27442972" cy="13716000"/>
          </a:xfrm>
        </p:grpSpPr>
        <p:sp>
          <p:nvSpPr>
            <p:cNvPr id="370" name="Google Shape;370;p33"/>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371" name="Google Shape;371;p33"/>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372" name="Google Shape;372;p33"/>
          <p:cNvGrpSpPr/>
          <p:nvPr/>
        </p:nvGrpSpPr>
        <p:grpSpPr>
          <a:xfrm>
            <a:off x="1028700" y="506776"/>
            <a:ext cx="14678105" cy="1393913"/>
            <a:chOff x="0" y="-38100"/>
            <a:chExt cx="2588731" cy="588000"/>
          </a:xfrm>
        </p:grpSpPr>
        <p:sp>
          <p:nvSpPr>
            <p:cNvPr id="373" name="Google Shape;373;p33"/>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3"/>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5" name="Google Shape;375;p33"/>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4. Support Vector Machines (SVM) - All Classes</a:t>
            </a:r>
            <a:endParaRPr b="1" sz="4500">
              <a:latin typeface="Lexend"/>
              <a:ea typeface="Lexend"/>
              <a:cs typeface="Lexend"/>
              <a:sym typeface="Lexend"/>
            </a:endParaRPr>
          </a:p>
        </p:txBody>
      </p:sp>
      <p:sp>
        <p:nvSpPr>
          <p:cNvPr id="376" name="Google Shape;376;p33"/>
          <p:cNvSpPr txBox="1"/>
          <p:nvPr>
            <p:ph idx="4294967295" type="body"/>
          </p:nvPr>
        </p:nvSpPr>
        <p:spPr>
          <a:xfrm>
            <a:off x="1703300" y="7496125"/>
            <a:ext cx="15576600" cy="1899900"/>
          </a:xfrm>
          <a:prstGeom prst="rect">
            <a:avLst/>
          </a:prstGeom>
          <a:solidFill>
            <a:srgbClr val="9FC5E8"/>
          </a:solidFill>
        </p:spPr>
        <p:txBody>
          <a:bodyPr anchorCtr="0" anchor="t" bIns="45700" lIns="91425" spcFirstLastPara="1" rIns="91425" wrap="square" tIns="45700">
            <a:normAutofit lnSpcReduction="20000"/>
          </a:bodyPr>
          <a:lstStyle/>
          <a:p>
            <a:pPr indent="0" lvl="0" marL="457200" rtl="0" algn="ctr">
              <a:spcBef>
                <a:spcPts val="640"/>
              </a:spcBef>
              <a:spcAft>
                <a:spcPts val="0"/>
              </a:spcAft>
              <a:buNone/>
            </a:pPr>
            <a:r>
              <a:t/>
            </a:r>
            <a:endParaRPr b="1">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Testing Accuracy</a:t>
            </a:r>
            <a:r>
              <a:rPr lang="en-US">
                <a:latin typeface="Montserrat"/>
                <a:ea typeface="Montserrat"/>
                <a:cs typeface="Montserrat"/>
                <a:sym typeface="Montserrat"/>
              </a:rPr>
              <a:t>: 74.4</a:t>
            </a:r>
            <a:r>
              <a:rPr lang="en-US">
                <a:latin typeface="Montserrat"/>
                <a:ea typeface="Montserrat"/>
                <a:cs typeface="Montserrat"/>
                <a:sym typeface="Montserrat"/>
              </a:rPr>
              <a:t>9</a:t>
            </a:r>
            <a:r>
              <a:rPr lang="en-US">
                <a:latin typeface="Montserrat"/>
                <a:ea typeface="Montserrat"/>
                <a:cs typeface="Montserrat"/>
                <a:sym typeface="Montserrat"/>
              </a:rPr>
              <a:t>%</a:t>
            </a:r>
            <a:endParaRPr>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Kappa</a:t>
            </a:r>
            <a:r>
              <a:rPr lang="en-US">
                <a:latin typeface="Montserrat"/>
                <a:ea typeface="Montserrat"/>
                <a:cs typeface="Montserrat"/>
                <a:sym typeface="Montserrat"/>
              </a:rPr>
              <a:t>: 0</a:t>
            </a:r>
            <a:endParaRPr>
              <a:latin typeface="Montserrat"/>
              <a:ea typeface="Montserrat"/>
              <a:cs typeface="Montserrat"/>
              <a:sym typeface="Montserrat"/>
            </a:endParaRPr>
          </a:p>
          <a:p>
            <a:pPr indent="0" lvl="0" marL="0" rtl="0" algn="ctr">
              <a:spcBef>
                <a:spcPts val="640"/>
              </a:spcBef>
              <a:spcAft>
                <a:spcPts val="0"/>
              </a:spcAft>
              <a:buNone/>
            </a:pPr>
            <a:r>
              <a:t/>
            </a:r>
            <a:endParaRPr>
              <a:latin typeface="Montserrat"/>
              <a:ea typeface="Montserrat"/>
              <a:cs typeface="Montserrat"/>
              <a:sym typeface="Montserrat"/>
            </a:endParaRPr>
          </a:p>
        </p:txBody>
      </p:sp>
      <p:graphicFrame>
        <p:nvGraphicFramePr>
          <p:cNvPr id="377" name="Google Shape;377;p33"/>
          <p:cNvGraphicFramePr/>
          <p:nvPr/>
        </p:nvGraphicFramePr>
        <p:xfrm>
          <a:off x="8998275" y="2507213"/>
          <a:ext cx="3000000" cy="3000000"/>
        </p:xfrm>
        <a:graphic>
          <a:graphicData uri="http://schemas.openxmlformats.org/drawingml/2006/table">
            <a:tbl>
              <a:tblPr>
                <a:noFill/>
                <a:tableStyleId>{021C6F59-9F9A-4E29-83AA-440699EBBCEF}</a:tableStyleId>
              </a:tblPr>
              <a:tblGrid>
                <a:gridCol w="1793450"/>
                <a:gridCol w="1793450"/>
                <a:gridCol w="1793450"/>
                <a:gridCol w="1793450"/>
                <a:gridCol w="1793450"/>
              </a:tblGrid>
              <a:tr h="799950">
                <a:tc>
                  <a:txBody>
                    <a:bodyPr/>
                    <a:lstStyle/>
                    <a:p>
                      <a:pPr indent="0" lvl="0" marL="0" rtl="0" algn="ctr">
                        <a:spcBef>
                          <a:spcPts val="0"/>
                        </a:spcBef>
                        <a:spcAft>
                          <a:spcPts val="0"/>
                        </a:spcAft>
                        <a:buNone/>
                      </a:pPr>
                      <a:r>
                        <a:t/>
                      </a:r>
                      <a:endParaRPr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Sensitivity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Specificity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Precision</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Misclassification</a:t>
                      </a:r>
                      <a:endParaRPr b="1" sz="2000">
                        <a:latin typeface="Montserrat"/>
                        <a:ea typeface="Montserrat"/>
                        <a:cs typeface="Montserrat"/>
                        <a:sym typeface="Montserrat"/>
                      </a:endParaRPr>
                    </a:p>
                  </a:txBody>
                  <a:tcPr marT="91425" marB="91425" marR="91425" marL="91425" anchor="ctr">
                    <a:solidFill>
                      <a:schemeClr val="lt2"/>
                    </a:solidFill>
                  </a:tcPr>
                </a:tc>
              </a:tr>
              <a:tr h="799950">
                <a:tc>
                  <a:txBody>
                    <a:bodyPr/>
                    <a:lstStyle/>
                    <a:p>
                      <a:pPr indent="0" lvl="0" marL="0" rtl="0" algn="ctr">
                        <a:spcBef>
                          <a:spcPts val="0"/>
                        </a:spcBef>
                        <a:spcAft>
                          <a:spcPts val="0"/>
                        </a:spcAft>
                        <a:buNone/>
                      </a:pPr>
                      <a:r>
                        <a:rPr b="1" lang="en-US" sz="2000">
                          <a:latin typeface="Montserrat"/>
                          <a:ea typeface="Montserrat"/>
                          <a:cs typeface="Montserrat"/>
                          <a:sym typeface="Montserrat"/>
                        </a:rPr>
                        <a:t>Belly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latin typeface="Montserrat"/>
                          <a:ea typeface="Montserrat"/>
                          <a:cs typeface="Montserrat"/>
                          <a:sym typeface="Montserrat"/>
                        </a:rPr>
                        <a:t>93.88%</a:t>
                      </a:r>
                      <a:endParaRPr sz="2000">
                        <a:latin typeface="Montserrat"/>
                        <a:ea typeface="Montserrat"/>
                        <a:cs typeface="Montserrat"/>
                        <a:sym typeface="Montserrat"/>
                      </a:endParaRPr>
                    </a:p>
                  </a:txBody>
                  <a:tcPr marT="91425" marB="91425" marR="91425" marL="91425" anchor="ctr"/>
                </a:tc>
              </a:tr>
              <a:tr h="799950">
                <a:tc>
                  <a:txBody>
                    <a:bodyPr/>
                    <a:lstStyle/>
                    <a:p>
                      <a:pPr indent="0" lvl="0" marL="0" rtl="0" algn="ctr">
                        <a:spcBef>
                          <a:spcPts val="0"/>
                        </a:spcBef>
                        <a:spcAft>
                          <a:spcPts val="0"/>
                        </a:spcAft>
                        <a:buNone/>
                      </a:pPr>
                      <a:r>
                        <a:rPr b="1" lang="en-US" sz="2000">
                          <a:latin typeface="Montserrat"/>
                          <a:ea typeface="Montserrat"/>
                          <a:cs typeface="Montserrat"/>
                          <a:sym typeface="Montserrat"/>
                        </a:rPr>
                        <a:t>Burping</a:t>
                      </a:r>
                      <a:endParaRPr b="1" sz="2000">
                        <a:latin typeface="Montserrat"/>
                        <a:ea typeface="Montserrat"/>
                        <a:cs typeface="Montserrat"/>
                        <a:sym typeface="Montserrat"/>
                      </a:endParaRPr>
                    </a:p>
                  </a:txBody>
                  <a:tcPr marT="91425" marB="91425" marR="91425" marL="91425" anchor="ctr">
                    <a:lnR cap="flat" cmpd="sng" w="9525">
                      <a:solidFill>
                        <a:srgbClr val="9E9E9E"/>
                      </a:solidFill>
                      <a:prstDash val="solid"/>
                      <a:round/>
                      <a:headEnd len="sm" w="sm" type="none"/>
                      <a:tailEnd len="sm" w="sm" type="none"/>
                    </a:ln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2000">
                          <a:latin typeface="Montserrat"/>
                          <a:ea typeface="Montserrat"/>
                          <a:cs typeface="Montserrat"/>
                          <a:sym typeface="Montserrat"/>
                        </a:rPr>
                        <a:t>98.98%</a:t>
                      </a:r>
                      <a:endParaRPr sz="2000">
                        <a:latin typeface="Montserrat"/>
                        <a:ea typeface="Montserrat"/>
                        <a:cs typeface="Montserrat"/>
                        <a:sym typeface="Montserrat"/>
                      </a:endParaRPr>
                    </a:p>
                  </a:txBody>
                  <a:tcPr marT="91425" marB="91425" marR="91425" marL="91425" anchor="ctr">
                    <a:lnL cap="flat" cmpd="sng" w="9525">
                      <a:solidFill>
                        <a:srgbClr val="9E9E9E"/>
                      </a:solidFill>
                      <a:prstDash val="solid"/>
                      <a:round/>
                      <a:headEnd len="sm" w="sm" type="none"/>
                      <a:tailEnd len="sm" w="sm" type="none"/>
                    </a:lnL>
                  </a:tcPr>
                </a:tc>
              </a:tr>
              <a:tr h="799950">
                <a:tc>
                  <a:txBody>
                    <a:bodyPr/>
                    <a:lstStyle/>
                    <a:p>
                      <a:pPr indent="0" lvl="0" marL="0" rtl="0" algn="ctr">
                        <a:spcBef>
                          <a:spcPts val="0"/>
                        </a:spcBef>
                        <a:spcAft>
                          <a:spcPts val="0"/>
                        </a:spcAft>
                        <a:buNone/>
                      </a:pPr>
                      <a:r>
                        <a:rPr b="1" lang="en-US" sz="2000">
                          <a:latin typeface="Montserrat"/>
                          <a:ea typeface="Montserrat"/>
                          <a:cs typeface="Montserrat"/>
                          <a:sym typeface="Montserrat"/>
                        </a:rPr>
                        <a:t>Discomfort</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US" sz="2000">
                          <a:latin typeface="Montserrat"/>
                          <a:ea typeface="Montserrat"/>
                          <a:cs typeface="Montserrat"/>
                          <a:sym typeface="Montserrat"/>
                        </a:rPr>
                        <a:t>91.84%</a:t>
                      </a:r>
                      <a:endParaRPr sz="2000">
                        <a:latin typeface="Montserrat"/>
                        <a:ea typeface="Montserrat"/>
                        <a:cs typeface="Montserrat"/>
                        <a:sym typeface="Montserrat"/>
                      </a:endParaRPr>
                    </a:p>
                  </a:txBody>
                  <a:tcPr marT="91425" marB="91425" marR="91425" marL="91425" anchor="ctr"/>
                </a:tc>
              </a:tr>
              <a:tr h="799950">
                <a:tc>
                  <a:txBody>
                    <a:bodyPr/>
                    <a:lstStyle/>
                    <a:p>
                      <a:pPr indent="0" lvl="0" marL="0" rtl="0" algn="ctr">
                        <a:spcBef>
                          <a:spcPts val="0"/>
                        </a:spcBef>
                        <a:spcAft>
                          <a:spcPts val="0"/>
                        </a:spcAft>
                        <a:buNone/>
                      </a:pPr>
                      <a:r>
                        <a:rPr b="1" lang="en-US" sz="2000">
                          <a:latin typeface="Montserrat"/>
                          <a:ea typeface="Montserrat"/>
                          <a:cs typeface="Montserrat"/>
                          <a:sym typeface="Montserrat"/>
                        </a:rPr>
                        <a:t>Hungry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79.49%</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r>
              <a:tr h="799950">
                <a:tc>
                  <a:txBody>
                    <a:bodyPr/>
                    <a:lstStyle/>
                    <a:p>
                      <a:pPr indent="0" lvl="0" marL="0" rtl="0" algn="ctr">
                        <a:spcBef>
                          <a:spcPts val="0"/>
                        </a:spcBef>
                        <a:spcAft>
                          <a:spcPts val="0"/>
                        </a:spcAft>
                        <a:buNone/>
                      </a:pPr>
                      <a:r>
                        <a:rPr b="1" lang="en-US" sz="2000">
                          <a:latin typeface="Montserrat"/>
                          <a:ea typeface="Montserrat"/>
                          <a:cs typeface="Montserrat"/>
                          <a:sym typeface="Montserrat"/>
                        </a:rPr>
                        <a:t>Tired</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89.80</a:t>
                      </a:r>
                      <a:r>
                        <a:rPr lang="en-US" sz="2000">
                          <a:latin typeface="Montserrat"/>
                          <a:ea typeface="Montserrat"/>
                          <a:cs typeface="Montserrat"/>
                          <a:sym typeface="Montserrat"/>
                        </a:rPr>
                        <a:t>%</a:t>
                      </a:r>
                      <a:endParaRPr sz="2000">
                        <a:latin typeface="Montserrat"/>
                        <a:ea typeface="Montserrat"/>
                        <a:cs typeface="Montserrat"/>
                        <a:sym typeface="Montserrat"/>
                      </a:endParaRPr>
                    </a:p>
                  </a:txBody>
                  <a:tcPr marT="91425" marB="91425" marR="91425" marL="91425" anchor="ctr"/>
                </a:tc>
              </a:tr>
            </a:tbl>
          </a:graphicData>
        </a:graphic>
      </p:graphicFrame>
      <p:pic>
        <p:nvPicPr>
          <p:cNvPr id="378" name="Google Shape;378;p33"/>
          <p:cNvPicPr preferRelativeResize="0"/>
          <p:nvPr/>
        </p:nvPicPr>
        <p:blipFill>
          <a:blip r:embed="rId4">
            <a:alphaModFix/>
          </a:blip>
          <a:stretch>
            <a:fillRect/>
          </a:stretch>
        </p:blipFill>
        <p:spPr>
          <a:xfrm>
            <a:off x="440925" y="2370875"/>
            <a:ext cx="8080388" cy="4936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382" name="Shape 382"/>
        <p:cNvGrpSpPr/>
        <p:nvPr/>
      </p:nvGrpSpPr>
      <p:grpSpPr>
        <a:xfrm>
          <a:off x="0" y="0"/>
          <a:ext cx="0" cy="0"/>
          <a:chOff x="0" y="0"/>
          <a:chExt cx="0" cy="0"/>
        </a:xfrm>
      </p:grpSpPr>
      <p:grpSp>
        <p:nvGrpSpPr>
          <p:cNvPr id="383" name="Google Shape;383;p34"/>
          <p:cNvGrpSpPr/>
          <p:nvPr/>
        </p:nvGrpSpPr>
        <p:grpSpPr>
          <a:xfrm>
            <a:off x="-1147115" y="0"/>
            <a:ext cx="20582229" cy="10287000"/>
            <a:chOff x="0" y="0"/>
            <a:chExt cx="27442972" cy="13716000"/>
          </a:xfrm>
        </p:grpSpPr>
        <p:sp>
          <p:nvSpPr>
            <p:cNvPr id="384" name="Google Shape;384;p34"/>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385" name="Google Shape;385;p34"/>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386" name="Google Shape;386;p34"/>
          <p:cNvGrpSpPr/>
          <p:nvPr/>
        </p:nvGrpSpPr>
        <p:grpSpPr>
          <a:xfrm>
            <a:off x="1028700" y="506776"/>
            <a:ext cx="14274263" cy="1393913"/>
            <a:chOff x="0" y="-38100"/>
            <a:chExt cx="2588731" cy="588000"/>
          </a:xfrm>
        </p:grpSpPr>
        <p:sp>
          <p:nvSpPr>
            <p:cNvPr id="387" name="Google Shape;387;p34"/>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4"/>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9" name="Google Shape;389;p34"/>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4</a:t>
            </a:r>
            <a:r>
              <a:rPr b="1" lang="en-US" sz="4500">
                <a:solidFill>
                  <a:srgbClr val="D34937"/>
                </a:solidFill>
                <a:latin typeface="Lexend"/>
                <a:ea typeface="Lexend"/>
                <a:cs typeface="Lexend"/>
                <a:sym typeface="Lexend"/>
              </a:rPr>
              <a:t>. Support Vector Machines (SVM) - 2 Classes</a:t>
            </a:r>
            <a:endParaRPr b="1" sz="4500">
              <a:latin typeface="Lexend"/>
              <a:ea typeface="Lexend"/>
              <a:cs typeface="Lexend"/>
              <a:sym typeface="Lexend"/>
            </a:endParaRPr>
          </a:p>
        </p:txBody>
      </p:sp>
      <p:sp>
        <p:nvSpPr>
          <p:cNvPr id="390" name="Google Shape;390;p34"/>
          <p:cNvSpPr txBox="1"/>
          <p:nvPr>
            <p:ph idx="4294967295" type="body"/>
          </p:nvPr>
        </p:nvSpPr>
        <p:spPr>
          <a:xfrm>
            <a:off x="1703300" y="7496125"/>
            <a:ext cx="15576600" cy="1899900"/>
          </a:xfrm>
          <a:prstGeom prst="rect">
            <a:avLst/>
          </a:prstGeom>
          <a:solidFill>
            <a:srgbClr val="9FC5E8"/>
          </a:solidFill>
        </p:spPr>
        <p:txBody>
          <a:bodyPr anchorCtr="0" anchor="t" bIns="45700" lIns="91425" spcFirstLastPara="1" rIns="91425" wrap="square" tIns="45700">
            <a:normAutofit lnSpcReduction="20000"/>
          </a:bodyPr>
          <a:lstStyle/>
          <a:p>
            <a:pPr indent="0" lvl="0" marL="457200" rtl="0" algn="ctr">
              <a:spcBef>
                <a:spcPts val="640"/>
              </a:spcBef>
              <a:spcAft>
                <a:spcPts val="0"/>
              </a:spcAft>
              <a:buNone/>
            </a:pPr>
            <a:r>
              <a:t/>
            </a:r>
            <a:endParaRPr b="1">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Testing Accuracy</a:t>
            </a:r>
            <a:r>
              <a:rPr lang="en-US">
                <a:latin typeface="Montserrat"/>
                <a:ea typeface="Montserrat"/>
                <a:cs typeface="Montserrat"/>
                <a:sym typeface="Montserrat"/>
              </a:rPr>
              <a:t>:  82.65%</a:t>
            </a:r>
            <a:endParaRPr>
              <a:latin typeface="Montserrat"/>
              <a:ea typeface="Montserrat"/>
              <a:cs typeface="Montserrat"/>
              <a:sym typeface="Montserrat"/>
            </a:endParaRPr>
          </a:p>
          <a:p>
            <a:pPr indent="0" lvl="0" marL="457200" rtl="0" algn="ctr">
              <a:spcBef>
                <a:spcPts val="640"/>
              </a:spcBef>
              <a:spcAft>
                <a:spcPts val="0"/>
              </a:spcAft>
              <a:buNone/>
            </a:pPr>
            <a:r>
              <a:rPr b="1" lang="en-US">
                <a:latin typeface="Montserrat"/>
                <a:ea typeface="Montserrat"/>
                <a:cs typeface="Montserrat"/>
                <a:sym typeface="Montserrat"/>
              </a:rPr>
              <a:t>Kappa</a:t>
            </a:r>
            <a:r>
              <a:rPr lang="en-US">
                <a:latin typeface="Montserrat"/>
                <a:ea typeface="Montserrat"/>
                <a:cs typeface="Montserrat"/>
                <a:sym typeface="Montserrat"/>
              </a:rPr>
              <a:t>: 0</a:t>
            </a:r>
            <a:endParaRPr>
              <a:latin typeface="Montserrat"/>
              <a:ea typeface="Montserrat"/>
              <a:cs typeface="Montserrat"/>
              <a:sym typeface="Montserrat"/>
            </a:endParaRPr>
          </a:p>
          <a:p>
            <a:pPr indent="0" lvl="0" marL="0" rtl="0" algn="ctr">
              <a:spcBef>
                <a:spcPts val="640"/>
              </a:spcBef>
              <a:spcAft>
                <a:spcPts val="0"/>
              </a:spcAft>
              <a:buNone/>
            </a:pPr>
            <a:r>
              <a:t/>
            </a:r>
            <a:endParaRPr>
              <a:latin typeface="Montserrat"/>
              <a:ea typeface="Montserrat"/>
              <a:cs typeface="Montserrat"/>
              <a:sym typeface="Montserrat"/>
            </a:endParaRPr>
          </a:p>
        </p:txBody>
      </p:sp>
      <p:graphicFrame>
        <p:nvGraphicFramePr>
          <p:cNvPr id="391" name="Google Shape;391;p34"/>
          <p:cNvGraphicFramePr/>
          <p:nvPr/>
        </p:nvGraphicFramePr>
        <p:xfrm>
          <a:off x="8900100" y="3918138"/>
          <a:ext cx="3000000" cy="3000000"/>
        </p:xfrm>
        <a:graphic>
          <a:graphicData uri="http://schemas.openxmlformats.org/drawingml/2006/table">
            <a:tbl>
              <a:tblPr>
                <a:noFill/>
                <a:tableStyleId>{021C6F59-9F9A-4E29-83AA-440699EBBCEF}</a:tableStyleId>
              </a:tblPr>
              <a:tblGrid>
                <a:gridCol w="2209300"/>
                <a:gridCol w="2209300"/>
                <a:gridCol w="2004250"/>
                <a:gridCol w="2414350"/>
              </a:tblGrid>
              <a:tr h="932675">
                <a:tc>
                  <a:txBody>
                    <a:bodyPr/>
                    <a:lstStyle/>
                    <a:p>
                      <a:pPr indent="0" lvl="0" marL="0" rtl="0" algn="ctr">
                        <a:spcBef>
                          <a:spcPts val="0"/>
                        </a:spcBef>
                        <a:spcAft>
                          <a:spcPts val="0"/>
                        </a:spcAft>
                        <a:buNone/>
                      </a:pPr>
                      <a:r>
                        <a:rPr b="1" lang="en-US" sz="2000">
                          <a:latin typeface="Montserrat"/>
                          <a:ea typeface="Montserrat"/>
                          <a:cs typeface="Montserrat"/>
                          <a:sym typeface="Montserrat"/>
                        </a:rPr>
                        <a:t>Sensitivity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Specificity</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Precision</a:t>
                      </a:r>
                      <a:endParaRPr b="1" sz="2000">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2000">
                          <a:latin typeface="Montserrat"/>
                          <a:ea typeface="Montserrat"/>
                          <a:cs typeface="Montserrat"/>
                          <a:sym typeface="Montserrat"/>
                        </a:rPr>
                        <a:t>Misclassification</a:t>
                      </a:r>
                      <a:endParaRPr b="1" sz="2000">
                        <a:latin typeface="Montserrat"/>
                        <a:ea typeface="Montserrat"/>
                        <a:cs typeface="Montserrat"/>
                        <a:sym typeface="Montserrat"/>
                      </a:endParaRPr>
                    </a:p>
                  </a:txBody>
                  <a:tcPr marT="91425" marB="91425" marR="91425" marL="91425" anchor="ctr">
                    <a:solidFill>
                      <a:schemeClr val="lt2"/>
                    </a:solidFill>
                  </a:tcPr>
                </a:tc>
              </a:tr>
              <a:tr h="932675">
                <a:tc>
                  <a:txBody>
                    <a:bodyPr/>
                    <a:lstStyle/>
                    <a:p>
                      <a:pPr indent="0" lvl="0" marL="0" rtl="0" algn="ctr">
                        <a:spcBef>
                          <a:spcPts val="0"/>
                        </a:spcBef>
                        <a:spcAft>
                          <a:spcPts val="0"/>
                        </a:spcAft>
                        <a:buNone/>
                      </a:pPr>
                      <a:r>
                        <a:rPr lang="en-US" sz="2000">
                          <a:latin typeface="Montserrat"/>
                          <a:ea typeface="Montserrat"/>
                          <a:cs typeface="Montserrat"/>
                          <a:sym typeface="Montserrat"/>
                        </a:rPr>
                        <a:t>100%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0%</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82.65%</a:t>
                      </a:r>
                      <a:endParaRPr sz="2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2000">
                          <a:latin typeface="Montserrat"/>
                          <a:ea typeface="Montserrat"/>
                          <a:cs typeface="Montserrat"/>
                          <a:sym typeface="Montserrat"/>
                        </a:rPr>
                        <a:t>NaN</a:t>
                      </a:r>
                      <a:endParaRPr sz="2000">
                        <a:latin typeface="Montserrat"/>
                        <a:ea typeface="Montserrat"/>
                        <a:cs typeface="Montserrat"/>
                        <a:sym typeface="Montserrat"/>
                      </a:endParaRPr>
                    </a:p>
                  </a:txBody>
                  <a:tcPr marT="91425" marB="91425" marR="91425" marL="91425" anchor="ctr"/>
                </a:tc>
              </a:tr>
            </a:tbl>
          </a:graphicData>
        </a:graphic>
      </p:graphicFrame>
      <p:pic>
        <p:nvPicPr>
          <p:cNvPr id="392" name="Google Shape;392;p34"/>
          <p:cNvPicPr preferRelativeResize="0"/>
          <p:nvPr/>
        </p:nvPicPr>
        <p:blipFill>
          <a:blip r:embed="rId4">
            <a:alphaModFix/>
          </a:blip>
          <a:stretch>
            <a:fillRect/>
          </a:stretch>
        </p:blipFill>
        <p:spPr>
          <a:xfrm>
            <a:off x="164600" y="2217950"/>
            <a:ext cx="8315800" cy="49609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396" name="Shape 396"/>
        <p:cNvGrpSpPr/>
        <p:nvPr/>
      </p:nvGrpSpPr>
      <p:grpSpPr>
        <a:xfrm>
          <a:off x="0" y="0"/>
          <a:ext cx="0" cy="0"/>
          <a:chOff x="0" y="0"/>
          <a:chExt cx="0" cy="0"/>
        </a:xfrm>
      </p:grpSpPr>
      <p:grpSp>
        <p:nvGrpSpPr>
          <p:cNvPr id="397" name="Google Shape;397;p35"/>
          <p:cNvGrpSpPr/>
          <p:nvPr/>
        </p:nvGrpSpPr>
        <p:grpSpPr>
          <a:xfrm>
            <a:off x="-1147115" y="0"/>
            <a:ext cx="20582229" cy="10287000"/>
            <a:chOff x="0" y="0"/>
            <a:chExt cx="27442972" cy="13716000"/>
          </a:xfrm>
        </p:grpSpPr>
        <p:sp>
          <p:nvSpPr>
            <p:cNvPr id="398" name="Google Shape;398;p35"/>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399" name="Google Shape;399;p35"/>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400" name="Google Shape;400;p35"/>
          <p:cNvGrpSpPr/>
          <p:nvPr/>
        </p:nvGrpSpPr>
        <p:grpSpPr>
          <a:xfrm>
            <a:off x="1028700" y="506776"/>
            <a:ext cx="4155172" cy="1393913"/>
            <a:chOff x="0" y="-38100"/>
            <a:chExt cx="2588731" cy="588000"/>
          </a:xfrm>
        </p:grpSpPr>
        <p:sp>
          <p:nvSpPr>
            <p:cNvPr id="401" name="Google Shape;401;p35"/>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3" name="Google Shape;403;p35"/>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Summary</a:t>
            </a:r>
            <a:endParaRPr b="1" sz="4500">
              <a:latin typeface="Lexend"/>
              <a:ea typeface="Lexend"/>
              <a:cs typeface="Lexend"/>
              <a:sym typeface="Lexend"/>
            </a:endParaRPr>
          </a:p>
        </p:txBody>
      </p:sp>
      <p:graphicFrame>
        <p:nvGraphicFramePr>
          <p:cNvPr id="404" name="Google Shape;404;p35"/>
          <p:cNvGraphicFramePr/>
          <p:nvPr/>
        </p:nvGraphicFramePr>
        <p:xfrm>
          <a:off x="952500" y="2687600"/>
          <a:ext cx="3000000" cy="3000000"/>
        </p:xfrm>
        <a:graphic>
          <a:graphicData uri="http://schemas.openxmlformats.org/drawingml/2006/table">
            <a:tbl>
              <a:tblPr>
                <a:noFill/>
                <a:tableStyleId>{021C6F59-9F9A-4E29-83AA-440699EBBCEF}</a:tableStyleId>
              </a:tblPr>
              <a:tblGrid>
                <a:gridCol w="5461000"/>
                <a:gridCol w="5461000"/>
                <a:gridCol w="5461000"/>
              </a:tblGrid>
              <a:tr h="1399050">
                <a:tc>
                  <a:txBody>
                    <a:bodyPr/>
                    <a:lstStyle/>
                    <a:p>
                      <a:pPr indent="0" lvl="0" marL="0" rtl="0" algn="ctr">
                        <a:spcBef>
                          <a:spcPts val="0"/>
                        </a:spcBef>
                        <a:spcAft>
                          <a:spcPts val="0"/>
                        </a:spcAft>
                        <a:buNone/>
                      </a:pPr>
                      <a:r>
                        <a:rPr b="1" lang="en-US" sz="3600" u="sng">
                          <a:latin typeface="Montserrat"/>
                          <a:ea typeface="Montserrat"/>
                          <a:cs typeface="Montserrat"/>
                          <a:sym typeface="Montserrat"/>
                        </a:rPr>
                        <a:t>Model</a:t>
                      </a:r>
                      <a:endParaRPr b="1" sz="3600" u="sng">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3600" u="sng">
                          <a:latin typeface="Montserrat"/>
                          <a:ea typeface="Montserrat"/>
                          <a:cs typeface="Montserrat"/>
                          <a:sym typeface="Montserrat"/>
                        </a:rPr>
                        <a:t>Testing Accuracy - All Classes</a:t>
                      </a:r>
                      <a:endParaRPr b="1" sz="3600" u="sng">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3600" u="sng">
                          <a:latin typeface="Montserrat"/>
                          <a:ea typeface="Montserrat"/>
                          <a:cs typeface="Montserrat"/>
                          <a:sym typeface="Montserrat"/>
                        </a:rPr>
                        <a:t>Testing Accuracy - 2 Classes</a:t>
                      </a:r>
                      <a:endParaRPr b="1" sz="3600" u="sng">
                        <a:latin typeface="Montserrat"/>
                        <a:ea typeface="Montserrat"/>
                        <a:cs typeface="Montserrat"/>
                        <a:sym typeface="Montserrat"/>
                      </a:endParaRPr>
                    </a:p>
                  </a:txBody>
                  <a:tcPr marT="91425" marB="91425" marR="91425" marL="91425" anchor="ctr">
                    <a:solidFill>
                      <a:schemeClr val="lt2"/>
                    </a:solidFill>
                  </a:tcPr>
                </a:tc>
              </a:tr>
              <a:tr h="1345375">
                <a:tc>
                  <a:txBody>
                    <a:bodyPr/>
                    <a:lstStyle/>
                    <a:p>
                      <a:pPr indent="0" lvl="0" marL="0" marR="0" rtl="0" algn="ctr">
                        <a:lnSpc>
                          <a:spcPct val="100000"/>
                        </a:lnSpc>
                        <a:spcBef>
                          <a:spcPts val="0"/>
                        </a:spcBef>
                        <a:spcAft>
                          <a:spcPts val="0"/>
                        </a:spcAft>
                        <a:buNone/>
                      </a:pPr>
                      <a:r>
                        <a:rPr lang="en-US" sz="3600">
                          <a:latin typeface="Montserrat"/>
                          <a:ea typeface="Montserrat"/>
                          <a:cs typeface="Montserrat"/>
                          <a:sym typeface="Montserrat"/>
                        </a:rPr>
                        <a:t>Logistic</a:t>
                      </a:r>
                      <a:endParaRPr sz="3600">
                        <a:latin typeface="Montserrat"/>
                        <a:ea typeface="Montserrat"/>
                        <a:cs typeface="Montserrat"/>
                        <a:sym typeface="Montserrat"/>
                      </a:endParaRPr>
                    </a:p>
                  </a:txBody>
                  <a:tcPr marT="91425" marB="91425" marR="91425" marL="91425" anchor="ctr"/>
                </a:tc>
                <a:tc>
                  <a:txBody>
                    <a:bodyPr/>
                    <a:lstStyle/>
                    <a:p>
                      <a:pPr indent="0" lvl="0" marL="0" marR="0" rtl="0" algn="ctr">
                        <a:lnSpc>
                          <a:spcPct val="100000"/>
                        </a:lnSpc>
                        <a:spcBef>
                          <a:spcPts val="0"/>
                        </a:spcBef>
                        <a:spcAft>
                          <a:spcPts val="0"/>
                        </a:spcAft>
                        <a:buNone/>
                      </a:pPr>
                      <a:r>
                        <a:rPr lang="en-US" sz="4400">
                          <a:latin typeface="Montserrat"/>
                          <a:ea typeface="Montserrat"/>
                          <a:cs typeface="Montserrat"/>
                          <a:sym typeface="Montserrat"/>
                        </a:rPr>
                        <a:t>31.58%</a:t>
                      </a:r>
                      <a:endParaRPr sz="4400">
                        <a:latin typeface="Montserrat"/>
                        <a:ea typeface="Montserrat"/>
                        <a:cs typeface="Montserrat"/>
                        <a:sym typeface="Montserrat"/>
                      </a:endParaRPr>
                    </a:p>
                  </a:txBody>
                  <a:tcPr marT="91425" marB="91425" marR="91425" marL="91425" anchor="ctr"/>
                </a:tc>
                <a:tc>
                  <a:txBody>
                    <a:bodyPr/>
                    <a:lstStyle/>
                    <a:p>
                      <a:pPr indent="0" lvl="0" marL="0" marR="0" rtl="0" algn="ctr">
                        <a:lnSpc>
                          <a:spcPct val="100000"/>
                        </a:lnSpc>
                        <a:spcBef>
                          <a:spcPts val="0"/>
                        </a:spcBef>
                        <a:spcAft>
                          <a:spcPts val="0"/>
                        </a:spcAft>
                        <a:buNone/>
                      </a:pPr>
                      <a:r>
                        <a:rPr lang="en-US" sz="4400">
                          <a:latin typeface="Montserrat"/>
                          <a:ea typeface="Montserrat"/>
                          <a:cs typeface="Montserrat"/>
                          <a:sym typeface="Montserrat"/>
                        </a:rPr>
                        <a:t>73.47%</a:t>
                      </a:r>
                      <a:endParaRPr sz="4400">
                        <a:latin typeface="Montserrat"/>
                        <a:ea typeface="Montserrat"/>
                        <a:cs typeface="Montserrat"/>
                        <a:sym typeface="Montserrat"/>
                      </a:endParaRPr>
                    </a:p>
                  </a:txBody>
                  <a:tcPr marT="91425" marB="91425" marR="91425" marL="91425" anchor="ctr"/>
                </a:tc>
              </a:tr>
              <a:tr h="1345375">
                <a:tc>
                  <a:txBody>
                    <a:bodyPr/>
                    <a:lstStyle/>
                    <a:p>
                      <a:pPr indent="0" lvl="0" marL="0" marR="0" rtl="0" algn="ctr">
                        <a:lnSpc>
                          <a:spcPct val="100000"/>
                        </a:lnSpc>
                        <a:spcBef>
                          <a:spcPts val="0"/>
                        </a:spcBef>
                        <a:spcAft>
                          <a:spcPts val="0"/>
                        </a:spcAft>
                        <a:buNone/>
                      </a:pPr>
                      <a:r>
                        <a:rPr lang="en-US" sz="3600">
                          <a:latin typeface="Montserrat"/>
                          <a:ea typeface="Montserrat"/>
                          <a:cs typeface="Montserrat"/>
                          <a:sym typeface="Montserrat"/>
                        </a:rPr>
                        <a:t>KNN</a:t>
                      </a:r>
                      <a:endParaRPr sz="3600">
                        <a:latin typeface="Montserrat"/>
                        <a:ea typeface="Montserrat"/>
                        <a:cs typeface="Montserrat"/>
                        <a:sym typeface="Montserrat"/>
                      </a:endParaRPr>
                    </a:p>
                  </a:txBody>
                  <a:tcPr marT="91425" marB="91425" marR="91425" marL="91425" anchor="ctr"/>
                </a:tc>
                <a:tc>
                  <a:txBody>
                    <a:bodyPr/>
                    <a:lstStyle/>
                    <a:p>
                      <a:pPr indent="0" lvl="0" marL="0" marR="0" rtl="0" algn="ctr">
                        <a:lnSpc>
                          <a:spcPct val="100000"/>
                        </a:lnSpc>
                        <a:spcBef>
                          <a:spcPts val="0"/>
                        </a:spcBef>
                        <a:spcAft>
                          <a:spcPts val="0"/>
                        </a:spcAft>
                        <a:buNone/>
                      </a:pPr>
                      <a:r>
                        <a:rPr lang="en-US" sz="4400">
                          <a:latin typeface="Montserrat"/>
                          <a:ea typeface="Montserrat"/>
                          <a:cs typeface="Montserrat"/>
                          <a:sym typeface="Montserrat"/>
                        </a:rPr>
                        <a:t>80.95%</a:t>
                      </a:r>
                      <a:endParaRPr sz="4400">
                        <a:latin typeface="Montserrat"/>
                        <a:ea typeface="Montserrat"/>
                        <a:cs typeface="Montserrat"/>
                        <a:sym typeface="Montserrat"/>
                      </a:endParaRPr>
                    </a:p>
                  </a:txBody>
                  <a:tcPr marT="91425" marB="91425" marR="91425" marL="91425" anchor="ctr"/>
                </a:tc>
                <a:tc>
                  <a:txBody>
                    <a:bodyPr/>
                    <a:lstStyle/>
                    <a:p>
                      <a:pPr indent="0" lvl="0" marL="0" marR="0" rtl="0" algn="ctr">
                        <a:lnSpc>
                          <a:spcPct val="100000"/>
                        </a:lnSpc>
                        <a:spcBef>
                          <a:spcPts val="0"/>
                        </a:spcBef>
                        <a:spcAft>
                          <a:spcPts val="0"/>
                        </a:spcAft>
                        <a:buNone/>
                      </a:pPr>
                      <a:r>
                        <a:rPr lang="en-US" sz="4400">
                          <a:latin typeface="Montserrat"/>
                          <a:ea typeface="Montserrat"/>
                          <a:cs typeface="Montserrat"/>
                          <a:sym typeface="Montserrat"/>
                        </a:rPr>
                        <a:t>84.69%</a:t>
                      </a:r>
                      <a:endParaRPr sz="4400">
                        <a:latin typeface="Montserrat"/>
                        <a:ea typeface="Montserrat"/>
                        <a:cs typeface="Montserrat"/>
                        <a:sym typeface="Montserrat"/>
                      </a:endParaRPr>
                    </a:p>
                  </a:txBody>
                  <a:tcPr marT="91425" marB="91425" marR="91425" marL="91425" anchor="ctr"/>
                </a:tc>
              </a:tr>
              <a:tr h="1345375">
                <a:tc>
                  <a:txBody>
                    <a:bodyPr/>
                    <a:lstStyle/>
                    <a:p>
                      <a:pPr indent="0" lvl="0" marL="0" marR="0" rtl="0" algn="ctr">
                        <a:lnSpc>
                          <a:spcPct val="100000"/>
                        </a:lnSpc>
                        <a:spcBef>
                          <a:spcPts val="0"/>
                        </a:spcBef>
                        <a:spcAft>
                          <a:spcPts val="0"/>
                        </a:spcAft>
                        <a:buNone/>
                      </a:pPr>
                      <a:r>
                        <a:rPr lang="en-US" sz="3600">
                          <a:latin typeface="Montserrat"/>
                          <a:ea typeface="Montserrat"/>
                          <a:cs typeface="Montserrat"/>
                          <a:sym typeface="Montserrat"/>
                        </a:rPr>
                        <a:t>Random Forest</a:t>
                      </a:r>
                      <a:endParaRPr sz="3600">
                        <a:latin typeface="Montserrat"/>
                        <a:ea typeface="Montserrat"/>
                        <a:cs typeface="Montserrat"/>
                        <a:sym typeface="Montserrat"/>
                      </a:endParaRPr>
                    </a:p>
                  </a:txBody>
                  <a:tcPr marT="91425" marB="91425" marR="91425" marL="91425" anchor="ctr"/>
                </a:tc>
                <a:tc>
                  <a:txBody>
                    <a:bodyPr/>
                    <a:lstStyle/>
                    <a:p>
                      <a:pPr indent="0" lvl="0" marL="0" marR="0" rtl="0" algn="ctr">
                        <a:lnSpc>
                          <a:spcPct val="100000"/>
                        </a:lnSpc>
                        <a:spcBef>
                          <a:spcPts val="0"/>
                        </a:spcBef>
                        <a:spcAft>
                          <a:spcPts val="0"/>
                        </a:spcAft>
                        <a:buNone/>
                      </a:pPr>
                      <a:r>
                        <a:rPr lang="en-US" sz="4400">
                          <a:latin typeface="Montserrat"/>
                          <a:ea typeface="Montserrat"/>
                          <a:cs typeface="Montserrat"/>
                          <a:sym typeface="Montserrat"/>
                        </a:rPr>
                        <a:t>81.63%</a:t>
                      </a:r>
                      <a:endParaRPr sz="4400">
                        <a:latin typeface="Montserrat"/>
                        <a:ea typeface="Montserrat"/>
                        <a:cs typeface="Montserrat"/>
                        <a:sym typeface="Montserrat"/>
                      </a:endParaRPr>
                    </a:p>
                  </a:txBody>
                  <a:tcPr marT="91425" marB="91425" marR="91425" marL="91425" anchor="ctr"/>
                </a:tc>
                <a:tc>
                  <a:txBody>
                    <a:bodyPr/>
                    <a:lstStyle/>
                    <a:p>
                      <a:pPr indent="0" lvl="0" marL="0" marR="0" rtl="0" algn="ctr">
                        <a:lnSpc>
                          <a:spcPct val="100000"/>
                        </a:lnSpc>
                        <a:spcBef>
                          <a:spcPts val="0"/>
                        </a:spcBef>
                        <a:spcAft>
                          <a:spcPts val="0"/>
                        </a:spcAft>
                        <a:buNone/>
                      </a:pPr>
                      <a:r>
                        <a:rPr lang="en-US" sz="4400">
                          <a:latin typeface="Montserrat"/>
                          <a:ea typeface="Montserrat"/>
                          <a:cs typeface="Montserrat"/>
                          <a:sym typeface="Montserrat"/>
                        </a:rPr>
                        <a:t>85.71%</a:t>
                      </a:r>
                      <a:endParaRPr sz="4400">
                        <a:latin typeface="Montserrat"/>
                        <a:ea typeface="Montserrat"/>
                        <a:cs typeface="Montserrat"/>
                        <a:sym typeface="Montserrat"/>
                      </a:endParaRPr>
                    </a:p>
                  </a:txBody>
                  <a:tcPr marT="91425" marB="91425" marR="91425" marL="91425" anchor="ctr"/>
                </a:tc>
              </a:tr>
              <a:tr h="1345375">
                <a:tc>
                  <a:txBody>
                    <a:bodyPr/>
                    <a:lstStyle/>
                    <a:p>
                      <a:pPr indent="0" lvl="0" marL="0" marR="0" rtl="0" algn="ctr">
                        <a:lnSpc>
                          <a:spcPct val="100000"/>
                        </a:lnSpc>
                        <a:spcBef>
                          <a:spcPts val="0"/>
                        </a:spcBef>
                        <a:spcAft>
                          <a:spcPts val="0"/>
                        </a:spcAft>
                        <a:buNone/>
                      </a:pPr>
                      <a:r>
                        <a:rPr lang="en-US" sz="3600">
                          <a:latin typeface="Montserrat"/>
                          <a:ea typeface="Montserrat"/>
                          <a:cs typeface="Montserrat"/>
                          <a:sym typeface="Montserrat"/>
                        </a:rPr>
                        <a:t>SVM</a:t>
                      </a:r>
                      <a:endParaRPr sz="3600">
                        <a:latin typeface="Montserrat"/>
                        <a:ea typeface="Montserrat"/>
                        <a:cs typeface="Montserrat"/>
                        <a:sym typeface="Montserrat"/>
                      </a:endParaRPr>
                    </a:p>
                  </a:txBody>
                  <a:tcPr marT="91425" marB="91425" marR="91425" marL="91425" anchor="ctr"/>
                </a:tc>
                <a:tc>
                  <a:txBody>
                    <a:bodyPr/>
                    <a:lstStyle/>
                    <a:p>
                      <a:pPr indent="0" lvl="0" marL="0" marR="0" rtl="0" algn="ctr">
                        <a:lnSpc>
                          <a:spcPct val="100000"/>
                        </a:lnSpc>
                        <a:spcBef>
                          <a:spcPts val="0"/>
                        </a:spcBef>
                        <a:spcAft>
                          <a:spcPts val="0"/>
                        </a:spcAft>
                        <a:buNone/>
                      </a:pPr>
                      <a:r>
                        <a:rPr lang="en-US" sz="4400">
                          <a:latin typeface="Montserrat"/>
                          <a:ea typeface="Montserrat"/>
                          <a:cs typeface="Montserrat"/>
                          <a:sym typeface="Montserrat"/>
                        </a:rPr>
                        <a:t>74.49%</a:t>
                      </a:r>
                      <a:endParaRPr sz="4400">
                        <a:latin typeface="Montserrat"/>
                        <a:ea typeface="Montserrat"/>
                        <a:cs typeface="Montserrat"/>
                        <a:sym typeface="Montserrat"/>
                      </a:endParaRPr>
                    </a:p>
                  </a:txBody>
                  <a:tcPr marT="91425" marB="91425" marR="91425" marL="91425" anchor="ctr"/>
                </a:tc>
                <a:tc>
                  <a:txBody>
                    <a:bodyPr/>
                    <a:lstStyle/>
                    <a:p>
                      <a:pPr indent="0" lvl="0" marL="0" marR="0" rtl="0" algn="ctr">
                        <a:lnSpc>
                          <a:spcPct val="100000"/>
                        </a:lnSpc>
                        <a:spcBef>
                          <a:spcPts val="0"/>
                        </a:spcBef>
                        <a:spcAft>
                          <a:spcPts val="0"/>
                        </a:spcAft>
                        <a:buNone/>
                      </a:pPr>
                      <a:r>
                        <a:rPr lang="en-US" sz="4400">
                          <a:latin typeface="Montserrat"/>
                          <a:ea typeface="Montserrat"/>
                          <a:cs typeface="Montserrat"/>
                          <a:sym typeface="Montserrat"/>
                        </a:rPr>
                        <a:t>82.65%</a:t>
                      </a:r>
                      <a:endParaRPr sz="4400">
                        <a:latin typeface="Montserrat"/>
                        <a:ea typeface="Montserrat"/>
                        <a:cs typeface="Montserrat"/>
                        <a:sym typeface="Montserrat"/>
                      </a:endParaRPr>
                    </a:p>
                  </a:txBody>
                  <a:tcPr marT="91425" marB="91425" marR="91425" marL="91425"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408" name="Shape 408"/>
        <p:cNvGrpSpPr/>
        <p:nvPr/>
      </p:nvGrpSpPr>
      <p:grpSpPr>
        <a:xfrm>
          <a:off x="0" y="0"/>
          <a:ext cx="0" cy="0"/>
          <a:chOff x="0" y="0"/>
          <a:chExt cx="0" cy="0"/>
        </a:xfrm>
      </p:grpSpPr>
      <p:grpSp>
        <p:nvGrpSpPr>
          <p:cNvPr id="409" name="Google Shape;409;p36"/>
          <p:cNvGrpSpPr/>
          <p:nvPr/>
        </p:nvGrpSpPr>
        <p:grpSpPr>
          <a:xfrm>
            <a:off x="-1147115" y="0"/>
            <a:ext cx="20582229" cy="10287000"/>
            <a:chOff x="0" y="0"/>
            <a:chExt cx="27442972" cy="13716000"/>
          </a:xfrm>
        </p:grpSpPr>
        <p:sp>
          <p:nvSpPr>
            <p:cNvPr id="410" name="Google Shape;410;p36"/>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411" name="Google Shape;411;p36"/>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412" name="Google Shape;412;p36"/>
          <p:cNvGrpSpPr/>
          <p:nvPr/>
        </p:nvGrpSpPr>
        <p:grpSpPr>
          <a:xfrm>
            <a:off x="1120775" y="7183898"/>
            <a:ext cx="2046133" cy="1730778"/>
            <a:chOff x="0" y="-38100"/>
            <a:chExt cx="2588731" cy="588000"/>
          </a:xfrm>
        </p:grpSpPr>
        <p:sp>
          <p:nvSpPr>
            <p:cNvPr id="413" name="Google Shape;413;p36"/>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6"/>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b="1" lang="en-US" sz="10000">
                  <a:solidFill>
                    <a:srgbClr val="D34937"/>
                  </a:solidFill>
                  <a:latin typeface="Lexend"/>
                  <a:ea typeface="Lexend"/>
                  <a:cs typeface="Lexend"/>
                  <a:sym typeface="Lexend"/>
                </a:rPr>
                <a:t>5</a:t>
              </a:r>
              <a:endParaRPr sz="10000">
                <a:solidFill>
                  <a:schemeClr val="dk1"/>
                </a:solidFill>
                <a:latin typeface="Calibri"/>
                <a:ea typeface="Calibri"/>
                <a:cs typeface="Calibri"/>
                <a:sym typeface="Calibri"/>
              </a:endParaRPr>
            </a:p>
          </p:txBody>
        </p:sp>
      </p:grpSp>
      <p:sp>
        <p:nvSpPr>
          <p:cNvPr id="415" name="Google Shape;415;p36"/>
          <p:cNvSpPr txBox="1"/>
          <p:nvPr/>
        </p:nvSpPr>
        <p:spPr>
          <a:xfrm>
            <a:off x="3552425" y="7375375"/>
            <a:ext cx="13376400" cy="133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700">
                <a:solidFill>
                  <a:srgbClr val="D34937"/>
                </a:solidFill>
                <a:latin typeface="Lexend"/>
                <a:ea typeface="Lexend"/>
                <a:cs typeface="Lexend"/>
                <a:sym typeface="Lexend"/>
              </a:rPr>
              <a:t>Bad Statistics</a:t>
            </a:r>
            <a:endParaRPr b="1" sz="8700">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419" name="Shape 419"/>
        <p:cNvGrpSpPr/>
        <p:nvPr/>
      </p:nvGrpSpPr>
      <p:grpSpPr>
        <a:xfrm>
          <a:off x="0" y="0"/>
          <a:ext cx="0" cy="0"/>
          <a:chOff x="0" y="0"/>
          <a:chExt cx="0" cy="0"/>
        </a:xfrm>
      </p:grpSpPr>
      <p:grpSp>
        <p:nvGrpSpPr>
          <p:cNvPr id="420" name="Google Shape;420;p37"/>
          <p:cNvGrpSpPr/>
          <p:nvPr/>
        </p:nvGrpSpPr>
        <p:grpSpPr>
          <a:xfrm>
            <a:off x="-1147115" y="0"/>
            <a:ext cx="20582229" cy="10287000"/>
            <a:chOff x="0" y="0"/>
            <a:chExt cx="27442972" cy="13716000"/>
          </a:xfrm>
        </p:grpSpPr>
        <p:sp>
          <p:nvSpPr>
            <p:cNvPr id="421" name="Google Shape;421;p37"/>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422" name="Google Shape;422;p37"/>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423" name="Google Shape;423;p37"/>
          <p:cNvGrpSpPr/>
          <p:nvPr/>
        </p:nvGrpSpPr>
        <p:grpSpPr>
          <a:xfrm>
            <a:off x="1028700" y="506776"/>
            <a:ext cx="10203224" cy="1393913"/>
            <a:chOff x="0" y="-38100"/>
            <a:chExt cx="2588731" cy="588000"/>
          </a:xfrm>
        </p:grpSpPr>
        <p:sp>
          <p:nvSpPr>
            <p:cNvPr id="424" name="Google Shape;424;p37"/>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7"/>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6" name="Google Shape;426;p37"/>
          <p:cNvSpPr txBox="1"/>
          <p:nvPr/>
        </p:nvSpPr>
        <p:spPr>
          <a:xfrm>
            <a:off x="1703306" y="869700"/>
            <a:ext cx="157677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500">
                <a:solidFill>
                  <a:srgbClr val="D34937"/>
                </a:solidFill>
                <a:latin typeface="Lexend"/>
                <a:ea typeface="Lexend"/>
                <a:cs typeface="Lexend"/>
                <a:sym typeface="Lexend"/>
              </a:rPr>
              <a:t>Including junk cries in models</a:t>
            </a:r>
            <a:endParaRPr b="1" sz="4500">
              <a:latin typeface="Lexend"/>
              <a:ea typeface="Lexend"/>
              <a:cs typeface="Lexend"/>
              <a:sym typeface="Lexend"/>
            </a:endParaRPr>
          </a:p>
        </p:txBody>
      </p:sp>
      <p:graphicFrame>
        <p:nvGraphicFramePr>
          <p:cNvPr id="427" name="Google Shape;427;p37"/>
          <p:cNvGraphicFramePr/>
          <p:nvPr/>
        </p:nvGraphicFramePr>
        <p:xfrm>
          <a:off x="1976350" y="2807175"/>
          <a:ext cx="3000000" cy="3000000"/>
        </p:xfrm>
        <a:graphic>
          <a:graphicData uri="http://schemas.openxmlformats.org/drawingml/2006/table">
            <a:tbl>
              <a:tblPr>
                <a:noFill/>
                <a:tableStyleId>{021C6F59-9F9A-4E29-83AA-440699EBBCEF}</a:tableStyleId>
              </a:tblPr>
              <a:tblGrid>
                <a:gridCol w="7453650"/>
                <a:gridCol w="7453650"/>
              </a:tblGrid>
              <a:tr h="1239000">
                <a:tc>
                  <a:txBody>
                    <a:bodyPr/>
                    <a:lstStyle/>
                    <a:p>
                      <a:pPr indent="0" lvl="0" marL="0" rtl="0" algn="ctr">
                        <a:spcBef>
                          <a:spcPts val="0"/>
                        </a:spcBef>
                        <a:spcAft>
                          <a:spcPts val="0"/>
                        </a:spcAft>
                        <a:buNone/>
                      </a:pPr>
                      <a:r>
                        <a:rPr b="1" lang="en-US" sz="3300" u="sng">
                          <a:latin typeface="Montserrat"/>
                          <a:ea typeface="Montserrat"/>
                          <a:cs typeface="Montserrat"/>
                          <a:sym typeface="Montserrat"/>
                        </a:rPr>
                        <a:t>Model</a:t>
                      </a:r>
                      <a:endParaRPr b="1" sz="3300" u="sng">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3300" u="sng">
                          <a:latin typeface="Montserrat"/>
                          <a:ea typeface="Montserrat"/>
                          <a:cs typeface="Montserrat"/>
                          <a:sym typeface="Montserrat"/>
                        </a:rPr>
                        <a:t>Testing Accuracy</a:t>
                      </a:r>
                      <a:endParaRPr b="1" sz="3300" u="sng">
                        <a:latin typeface="Montserrat"/>
                        <a:ea typeface="Montserrat"/>
                        <a:cs typeface="Montserrat"/>
                        <a:sym typeface="Montserrat"/>
                      </a:endParaRPr>
                    </a:p>
                  </a:txBody>
                  <a:tcPr marT="91425" marB="91425" marR="91425" marL="91425" anchor="ctr">
                    <a:solidFill>
                      <a:schemeClr val="lt2"/>
                    </a:solidFill>
                  </a:tcP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Logistic Regression</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83.82%</a:t>
                      </a:r>
                      <a:endParaRPr sz="3000">
                        <a:latin typeface="Montserrat"/>
                        <a:ea typeface="Montserrat"/>
                        <a:cs typeface="Montserrat"/>
                        <a:sym typeface="Montserrat"/>
                      </a:endParaRPr>
                    </a:p>
                  </a:txBody>
                  <a:tcPr marT="91425" marB="91425" marR="91425" marL="91425" anchor="ct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KNN</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84.78%</a:t>
                      </a:r>
                      <a:endParaRPr sz="3000">
                        <a:latin typeface="Montserrat"/>
                        <a:ea typeface="Montserrat"/>
                        <a:cs typeface="Montserrat"/>
                        <a:sym typeface="Montserrat"/>
                      </a:endParaRPr>
                    </a:p>
                  </a:txBody>
                  <a:tcPr marT="91425" marB="91425" marR="91425" marL="91425" anchor="ct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Random Forest</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81.02%</a:t>
                      </a:r>
                      <a:endParaRPr sz="3000">
                        <a:latin typeface="Montserrat"/>
                        <a:ea typeface="Montserrat"/>
                        <a:cs typeface="Montserrat"/>
                        <a:sym typeface="Montserrat"/>
                      </a:endParaRPr>
                    </a:p>
                  </a:txBody>
                  <a:tcPr marT="91425" marB="91425" marR="91425" marL="91425" anchor="ct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SVM</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39.86%</a:t>
                      </a:r>
                      <a:endParaRPr sz="3000">
                        <a:latin typeface="Montserrat"/>
                        <a:ea typeface="Montserrat"/>
                        <a:cs typeface="Montserrat"/>
                        <a:sym typeface="Montserrat"/>
                      </a:endParaRPr>
                    </a:p>
                  </a:txBody>
                  <a:tcPr marT="91425" marB="91425" marR="91425" marL="91425" anchor="ct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431" name="Shape 431"/>
        <p:cNvGrpSpPr/>
        <p:nvPr/>
      </p:nvGrpSpPr>
      <p:grpSpPr>
        <a:xfrm>
          <a:off x="0" y="0"/>
          <a:ext cx="0" cy="0"/>
          <a:chOff x="0" y="0"/>
          <a:chExt cx="0" cy="0"/>
        </a:xfrm>
      </p:grpSpPr>
      <p:grpSp>
        <p:nvGrpSpPr>
          <p:cNvPr id="432" name="Google Shape;432;p38"/>
          <p:cNvGrpSpPr/>
          <p:nvPr/>
        </p:nvGrpSpPr>
        <p:grpSpPr>
          <a:xfrm>
            <a:off x="-1147115" y="0"/>
            <a:ext cx="20582229" cy="10287000"/>
            <a:chOff x="0" y="0"/>
            <a:chExt cx="27442972" cy="13716000"/>
          </a:xfrm>
        </p:grpSpPr>
        <p:sp>
          <p:nvSpPr>
            <p:cNvPr id="433" name="Google Shape;433;p38"/>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434" name="Google Shape;434;p38"/>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435" name="Google Shape;435;p38"/>
          <p:cNvGrpSpPr/>
          <p:nvPr/>
        </p:nvGrpSpPr>
        <p:grpSpPr>
          <a:xfrm>
            <a:off x="1028700" y="506776"/>
            <a:ext cx="16442325" cy="1393913"/>
            <a:chOff x="0" y="-38100"/>
            <a:chExt cx="2588731" cy="588000"/>
          </a:xfrm>
        </p:grpSpPr>
        <p:sp>
          <p:nvSpPr>
            <p:cNvPr id="436" name="Google Shape;436;p38"/>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8"/>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8" name="Google Shape;438;p38"/>
          <p:cNvSpPr txBox="1"/>
          <p:nvPr/>
        </p:nvSpPr>
        <p:spPr>
          <a:xfrm>
            <a:off x="1703306" y="869700"/>
            <a:ext cx="157677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200">
                <a:solidFill>
                  <a:srgbClr val="D34937"/>
                </a:solidFill>
                <a:latin typeface="Lexend"/>
                <a:ea typeface="Lexend"/>
                <a:cs typeface="Lexend"/>
                <a:sym typeface="Lexend"/>
              </a:rPr>
              <a:t>Modelling parameters on entire data (including test set)</a:t>
            </a:r>
            <a:endParaRPr b="1" sz="4200">
              <a:latin typeface="Lexend"/>
              <a:ea typeface="Lexend"/>
              <a:cs typeface="Lexend"/>
              <a:sym typeface="Lexend"/>
            </a:endParaRPr>
          </a:p>
        </p:txBody>
      </p:sp>
      <p:graphicFrame>
        <p:nvGraphicFramePr>
          <p:cNvPr id="439" name="Google Shape;439;p38"/>
          <p:cNvGraphicFramePr/>
          <p:nvPr/>
        </p:nvGraphicFramePr>
        <p:xfrm>
          <a:off x="952500" y="2383500"/>
          <a:ext cx="3000000" cy="3000000"/>
        </p:xfrm>
        <a:graphic>
          <a:graphicData uri="http://schemas.openxmlformats.org/drawingml/2006/table">
            <a:tbl>
              <a:tblPr>
                <a:noFill/>
                <a:tableStyleId>{021C6F59-9F9A-4E29-83AA-440699EBBCEF}</a:tableStyleId>
              </a:tblPr>
              <a:tblGrid>
                <a:gridCol w="8108475"/>
                <a:gridCol w="8108475"/>
              </a:tblGrid>
              <a:tr h="1239000">
                <a:tc>
                  <a:txBody>
                    <a:bodyPr/>
                    <a:lstStyle/>
                    <a:p>
                      <a:pPr indent="0" lvl="0" marL="0" rtl="0" algn="ctr">
                        <a:spcBef>
                          <a:spcPts val="0"/>
                        </a:spcBef>
                        <a:spcAft>
                          <a:spcPts val="0"/>
                        </a:spcAft>
                        <a:buNone/>
                      </a:pPr>
                      <a:r>
                        <a:rPr b="1" lang="en-US" sz="3300" u="sng">
                          <a:latin typeface="Montserrat"/>
                          <a:ea typeface="Montserrat"/>
                          <a:cs typeface="Montserrat"/>
                          <a:sym typeface="Montserrat"/>
                        </a:rPr>
                        <a:t>Model</a:t>
                      </a:r>
                      <a:endParaRPr b="1" sz="3300" u="sng">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3300" u="sng">
                          <a:latin typeface="Montserrat"/>
                          <a:ea typeface="Montserrat"/>
                          <a:cs typeface="Montserrat"/>
                          <a:sym typeface="Montserrat"/>
                        </a:rPr>
                        <a:t>Testing Accuracy</a:t>
                      </a:r>
                      <a:endParaRPr b="1" sz="3300" u="sng">
                        <a:latin typeface="Montserrat"/>
                        <a:ea typeface="Montserrat"/>
                        <a:cs typeface="Montserrat"/>
                        <a:sym typeface="Montserrat"/>
                      </a:endParaRPr>
                    </a:p>
                  </a:txBody>
                  <a:tcPr marT="91425" marB="91425" marR="91425" marL="91425" anchor="ctr">
                    <a:solidFill>
                      <a:schemeClr val="lt2"/>
                    </a:solidFill>
                  </a:tcP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Logistic Regression</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85.26%</a:t>
                      </a:r>
                      <a:endParaRPr sz="3000">
                        <a:latin typeface="Montserrat"/>
                        <a:ea typeface="Montserrat"/>
                        <a:cs typeface="Montserrat"/>
                        <a:sym typeface="Montserrat"/>
                      </a:endParaRPr>
                    </a:p>
                  </a:txBody>
                  <a:tcPr marT="91425" marB="91425" marR="91425" marL="91425" anchor="ct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KNN</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84.25</a:t>
                      </a:r>
                      <a:r>
                        <a:rPr lang="en-US" sz="3000">
                          <a:latin typeface="Montserrat"/>
                          <a:ea typeface="Montserrat"/>
                          <a:cs typeface="Montserrat"/>
                          <a:sym typeface="Montserrat"/>
                        </a:rPr>
                        <a:t>%</a:t>
                      </a:r>
                      <a:endParaRPr sz="3000">
                        <a:latin typeface="Montserrat"/>
                        <a:ea typeface="Montserrat"/>
                        <a:cs typeface="Montserrat"/>
                        <a:sym typeface="Montserrat"/>
                      </a:endParaRPr>
                    </a:p>
                  </a:txBody>
                  <a:tcPr marT="91425" marB="91425" marR="91425" marL="91425" anchor="ct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Random Forest</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100%</a:t>
                      </a:r>
                      <a:endParaRPr sz="3000">
                        <a:latin typeface="Montserrat"/>
                        <a:ea typeface="Montserrat"/>
                        <a:cs typeface="Montserrat"/>
                        <a:sym typeface="Montserrat"/>
                      </a:endParaRPr>
                    </a:p>
                  </a:txBody>
                  <a:tcPr marT="91425" marB="91425" marR="91425" marL="91425" anchor="ct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SVM</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89.34%</a:t>
                      </a:r>
                      <a:endParaRPr sz="3000">
                        <a:latin typeface="Montserrat"/>
                        <a:ea typeface="Montserrat"/>
                        <a:cs typeface="Montserrat"/>
                        <a:sym typeface="Montserrat"/>
                      </a:endParaRPr>
                    </a:p>
                  </a:txBody>
                  <a:tcPr marT="91425" marB="91425" marR="91425" marL="91425" anchor="ct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443" name="Shape 443"/>
        <p:cNvGrpSpPr/>
        <p:nvPr/>
      </p:nvGrpSpPr>
      <p:grpSpPr>
        <a:xfrm>
          <a:off x="0" y="0"/>
          <a:ext cx="0" cy="0"/>
          <a:chOff x="0" y="0"/>
          <a:chExt cx="0" cy="0"/>
        </a:xfrm>
      </p:grpSpPr>
      <p:grpSp>
        <p:nvGrpSpPr>
          <p:cNvPr id="444" name="Google Shape;444;p39"/>
          <p:cNvGrpSpPr/>
          <p:nvPr/>
        </p:nvGrpSpPr>
        <p:grpSpPr>
          <a:xfrm>
            <a:off x="-1147115" y="0"/>
            <a:ext cx="20582229" cy="10287000"/>
            <a:chOff x="0" y="0"/>
            <a:chExt cx="27442972" cy="13716000"/>
          </a:xfrm>
        </p:grpSpPr>
        <p:sp>
          <p:nvSpPr>
            <p:cNvPr id="445" name="Google Shape;445;p39"/>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446" name="Google Shape;446;p39"/>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447" name="Google Shape;447;p39"/>
          <p:cNvGrpSpPr/>
          <p:nvPr/>
        </p:nvGrpSpPr>
        <p:grpSpPr>
          <a:xfrm>
            <a:off x="1028700" y="506776"/>
            <a:ext cx="10290206" cy="1393913"/>
            <a:chOff x="0" y="-38100"/>
            <a:chExt cx="2588731" cy="588000"/>
          </a:xfrm>
        </p:grpSpPr>
        <p:sp>
          <p:nvSpPr>
            <p:cNvPr id="448" name="Google Shape;448;p39"/>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9"/>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0" name="Google Shape;450;p39"/>
          <p:cNvSpPr txBox="1"/>
          <p:nvPr/>
        </p:nvSpPr>
        <p:spPr>
          <a:xfrm>
            <a:off x="1703306" y="869700"/>
            <a:ext cx="15767700" cy="64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4200">
                <a:solidFill>
                  <a:srgbClr val="D34937"/>
                </a:solidFill>
                <a:latin typeface="Lexend"/>
                <a:ea typeface="Lexend"/>
                <a:cs typeface="Lexend"/>
                <a:sym typeface="Lexend"/>
              </a:rPr>
              <a:t>Feature Selection Cherry Picking</a:t>
            </a:r>
            <a:endParaRPr b="1" sz="4200">
              <a:latin typeface="Lexend"/>
              <a:ea typeface="Lexend"/>
              <a:cs typeface="Lexend"/>
              <a:sym typeface="Lexend"/>
            </a:endParaRPr>
          </a:p>
        </p:txBody>
      </p:sp>
      <p:graphicFrame>
        <p:nvGraphicFramePr>
          <p:cNvPr id="451" name="Google Shape;451;p39"/>
          <p:cNvGraphicFramePr/>
          <p:nvPr/>
        </p:nvGraphicFramePr>
        <p:xfrm>
          <a:off x="2484325" y="2404775"/>
          <a:ext cx="3000000" cy="3000000"/>
        </p:xfrm>
        <a:graphic>
          <a:graphicData uri="http://schemas.openxmlformats.org/drawingml/2006/table">
            <a:tbl>
              <a:tblPr>
                <a:noFill/>
                <a:tableStyleId>{021C6F59-9F9A-4E29-83AA-440699EBBCEF}</a:tableStyleId>
              </a:tblPr>
              <a:tblGrid>
                <a:gridCol w="6659675"/>
                <a:gridCol w="6659675"/>
              </a:tblGrid>
              <a:tr h="1239000">
                <a:tc>
                  <a:txBody>
                    <a:bodyPr/>
                    <a:lstStyle/>
                    <a:p>
                      <a:pPr indent="0" lvl="0" marL="0" rtl="0" algn="ctr">
                        <a:spcBef>
                          <a:spcPts val="0"/>
                        </a:spcBef>
                        <a:spcAft>
                          <a:spcPts val="0"/>
                        </a:spcAft>
                        <a:buNone/>
                      </a:pPr>
                      <a:r>
                        <a:rPr b="1" lang="en-US" sz="3300" u="sng">
                          <a:latin typeface="Montserrat"/>
                          <a:ea typeface="Montserrat"/>
                          <a:cs typeface="Montserrat"/>
                          <a:sym typeface="Montserrat"/>
                        </a:rPr>
                        <a:t>Model</a:t>
                      </a:r>
                      <a:endParaRPr b="1" sz="3300" u="sng">
                        <a:latin typeface="Montserrat"/>
                        <a:ea typeface="Montserrat"/>
                        <a:cs typeface="Montserrat"/>
                        <a:sym typeface="Montserrat"/>
                      </a:endParaRPr>
                    </a:p>
                  </a:txBody>
                  <a:tcPr marT="91425" marB="91425" marR="91425" marL="91425" anchor="ctr">
                    <a:solidFill>
                      <a:schemeClr val="lt2"/>
                    </a:solidFill>
                  </a:tcPr>
                </a:tc>
                <a:tc>
                  <a:txBody>
                    <a:bodyPr/>
                    <a:lstStyle/>
                    <a:p>
                      <a:pPr indent="0" lvl="0" marL="0" rtl="0" algn="ctr">
                        <a:spcBef>
                          <a:spcPts val="0"/>
                        </a:spcBef>
                        <a:spcAft>
                          <a:spcPts val="0"/>
                        </a:spcAft>
                        <a:buNone/>
                      </a:pPr>
                      <a:r>
                        <a:rPr b="1" lang="en-US" sz="3300" u="sng">
                          <a:latin typeface="Montserrat"/>
                          <a:ea typeface="Montserrat"/>
                          <a:cs typeface="Montserrat"/>
                          <a:sym typeface="Montserrat"/>
                        </a:rPr>
                        <a:t>Testing Accuracy</a:t>
                      </a:r>
                      <a:endParaRPr b="1" sz="3300" u="sng">
                        <a:latin typeface="Montserrat"/>
                        <a:ea typeface="Montserrat"/>
                        <a:cs typeface="Montserrat"/>
                        <a:sym typeface="Montserrat"/>
                      </a:endParaRPr>
                    </a:p>
                  </a:txBody>
                  <a:tcPr marT="91425" marB="91425" marR="91425" marL="91425" anchor="ctr">
                    <a:solidFill>
                      <a:schemeClr val="lt2"/>
                    </a:solidFill>
                  </a:tcP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Logistic Regression</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83.16%</a:t>
                      </a:r>
                      <a:endParaRPr sz="3000">
                        <a:latin typeface="Montserrat"/>
                        <a:ea typeface="Montserrat"/>
                        <a:cs typeface="Montserrat"/>
                        <a:sym typeface="Montserrat"/>
                      </a:endParaRPr>
                    </a:p>
                  </a:txBody>
                  <a:tcPr marT="91425" marB="91425" marR="91425" marL="91425" anchor="ct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KNN</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83.61%</a:t>
                      </a:r>
                      <a:endParaRPr sz="3000">
                        <a:latin typeface="Montserrat"/>
                        <a:ea typeface="Montserrat"/>
                        <a:cs typeface="Montserrat"/>
                        <a:sym typeface="Montserrat"/>
                      </a:endParaRPr>
                    </a:p>
                  </a:txBody>
                  <a:tcPr marT="91425" marB="91425" marR="91425" marL="91425" anchor="ct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Random Forest</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74.45%</a:t>
                      </a:r>
                      <a:endParaRPr sz="3000">
                        <a:latin typeface="Montserrat"/>
                        <a:ea typeface="Montserrat"/>
                        <a:cs typeface="Montserrat"/>
                        <a:sym typeface="Montserrat"/>
                      </a:endParaRPr>
                    </a:p>
                  </a:txBody>
                  <a:tcPr marT="91425" marB="91425" marR="91425" marL="91425" anchor="ctr"/>
                </a:tc>
              </a:tr>
              <a:tr h="1239000">
                <a:tc>
                  <a:txBody>
                    <a:bodyPr/>
                    <a:lstStyle/>
                    <a:p>
                      <a:pPr indent="0" lvl="0" marL="0" rtl="0" algn="ctr">
                        <a:spcBef>
                          <a:spcPts val="0"/>
                        </a:spcBef>
                        <a:spcAft>
                          <a:spcPts val="0"/>
                        </a:spcAft>
                        <a:buNone/>
                      </a:pPr>
                      <a:r>
                        <a:rPr lang="en-US" sz="3000">
                          <a:latin typeface="Montserrat"/>
                          <a:ea typeface="Montserrat"/>
                          <a:cs typeface="Montserrat"/>
                          <a:sym typeface="Montserrat"/>
                        </a:rPr>
                        <a:t>SVM</a:t>
                      </a:r>
                      <a:endParaRPr sz="3000">
                        <a:latin typeface="Montserrat"/>
                        <a:ea typeface="Montserrat"/>
                        <a:cs typeface="Montserrat"/>
                        <a:sym typeface="Montserrat"/>
                      </a:endParaRPr>
                    </a:p>
                  </a:txBody>
                  <a:tcPr marT="91425" marB="91425" marR="91425" marL="91425" anchor="ctr"/>
                </a:tc>
                <a:tc>
                  <a:txBody>
                    <a:bodyPr/>
                    <a:lstStyle/>
                    <a:p>
                      <a:pPr indent="0" lvl="0" marL="0" rtl="0" algn="ctr">
                        <a:spcBef>
                          <a:spcPts val="0"/>
                        </a:spcBef>
                        <a:spcAft>
                          <a:spcPts val="0"/>
                        </a:spcAft>
                        <a:buNone/>
                      </a:pPr>
                      <a:r>
                        <a:rPr lang="en-US" sz="3000">
                          <a:latin typeface="Montserrat"/>
                          <a:ea typeface="Montserrat"/>
                          <a:cs typeface="Montserrat"/>
                          <a:sym typeface="Montserrat"/>
                        </a:rPr>
                        <a:t>86.23%</a:t>
                      </a:r>
                      <a:endParaRPr sz="3000">
                        <a:latin typeface="Montserrat"/>
                        <a:ea typeface="Montserrat"/>
                        <a:cs typeface="Montserrat"/>
                        <a:sym typeface="Montserrat"/>
                      </a:endParaRPr>
                    </a:p>
                  </a:txBody>
                  <a:tcPr marT="91425" marB="91425" marR="91425" marL="91425"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455" name="Shape 455"/>
        <p:cNvGrpSpPr/>
        <p:nvPr/>
      </p:nvGrpSpPr>
      <p:grpSpPr>
        <a:xfrm>
          <a:off x="0" y="0"/>
          <a:ext cx="0" cy="0"/>
          <a:chOff x="0" y="0"/>
          <a:chExt cx="0" cy="0"/>
        </a:xfrm>
      </p:grpSpPr>
      <p:grpSp>
        <p:nvGrpSpPr>
          <p:cNvPr id="456" name="Google Shape;456;p40"/>
          <p:cNvGrpSpPr/>
          <p:nvPr/>
        </p:nvGrpSpPr>
        <p:grpSpPr>
          <a:xfrm>
            <a:off x="-1147115" y="0"/>
            <a:ext cx="20582229" cy="10287000"/>
            <a:chOff x="0" y="0"/>
            <a:chExt cx="27442972" cy="13716000"/>
          </a:xfrm>
        </p:grpSpPr>
        <p:sp>
          <p:nvSpPr>
            <p:cNvPr id="457" name="Google Shape;457;p40"/>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458" name="Google Shape;458;p40"/>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459" name="Google Shape;459;p40"/>
          <p:cNvGrpSpPr/>
          <p:nvPr/>
        </p:nvGrpSpPr>
        <p:grpSpPr>
          <a:xfrm>
            <a:off x="1120775" y="7183898"/>
            <a:ext cx="2046133" cy="1730778"/>
            <a:chOff x="0" y="-38100"/>
            <a:chExt cx="2588731" cy="588000"/>
          </a:xfrm>
        </p:grpSpPr>
        <p:sp>
          <p:nvSpPr>
            <p:cNvPr id="460" name="Google Shape;460;p40"/>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0"/>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rtl="0" algn="ctr">
                <a:spcBef>
                  <a:spcPts val="0"/>
                </a:spcBef>
                <a:spcAft>
                  <a:spcPts val="0"/>
                </a:spcAft>
                <a:buNone/>
              </a:pPr>
              <a:r>
                <a:rPr b="1" lang="en-US" sz="10000">
                  <a:solidFill>
                    <a:srgbClr val="D34937"/>
                  </a:solidFill>
                  <a:latin typeface="Lexend"/>
                  <a:ea typeface="Lexend"/>
                  <a:cs typeface="Lexend"/>
                  <a:sym typeface="Lexend"/>
                </a:rPr>
                <a:t>5</a:t>
              </a:r>
              <a:endParaRPr sz="10000">
                <a:solidFill>
                  <a:schemeClr val="dk1"/>
                </a:solidFill>
                <a:latin typeface="Calibri"/>
                <a:ea typeface="Calibri"/>
                <a:cs typeface="Calibri"/>
                <a:sym typeface="Calibri"/>
              </a:endParaRPr>
            </a:p>
          </p:txBody>
        </p:sp>
      </p:grpSp>
      <p:sp>
        <p:nvSpPr>
          <p:cNvPr id="462" name="Google Shape;462;p40"/>
          <p:cNvSpPr txBox="1"/>
          <p:nvPr/>
        </p:nvSpPr>
        <p:spPr>
          <a:xfrm>
            <a:off x="3552425" y="7375375"/>
            <a:ext cx="13376400" cy="133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700">
                <a:solidFill>
                  <a:srgbClr val="D34937"/>
                </a:solidFill>
                <a:latin typeface="Lexend"/>
                <a:ea typeface="Lexend"/>
                <a:cs typeface="Lexend"/>
                <a:sym typeface="Lexend"/>
              </a:rPr>
              <a:t>Conclusions</a:t>
            </a:r>
            <a:endParaRPr b="1" sz="8700">
              <a:latin typeface="Lexend"/>
              <a:ea typeface="Lexend"/>
              <a:cs typeface="Lexend"/>
              <a:sym typeface="Lexe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7E9"/>
        </a:solidFill>
      </p:bgPr>
    </p:bg>
    <p:spTree>
      <p:nvGrpSpPr>
        <p:cNvPr id="466" name="Shape 466"/>
        <p:cNvGrpSpPr/>
        <p:nvPr/>
      </p:nvGrpSpPr>
      <p:grpSpPr>
        <a:xfrm>
          <a:off x="0" y="0"/>
          <a:ext cx="0" cy="0"/>
          <a:chOff x="0" y="0"/>
          <a:chExt cx="0" cy="0"/>
        </a:xfrm>
      </p:grpSpPr>
      <p:grpSp>
        <p:nvGrpSpPr>
          <p:cNvPr id="467" name="Google Shape;467;p41"/>
          <p:cNvGrpSpPr/>
          <p:nvPr/>
        </p:nvGrpSpPr>
        <p:grpSpPr>
          <a:xfrm>
            <a:off x="-1147115" y="0"/>
            <a:ext cx="20582229" cy="10287000"/>
            <a:chOff x="0" y="0"/>
            <a:chExt cx="27442972" cy="13716000"/>
          </a:xfrm>
        </p:grpSpPr>
        <p:sp>
          <p:nvSpPr>
            <p:cNvPr id="468" name="Google Shape;468;p41"/>
            <p:cNvSpPr/>
            <p:nvPr/>
          </p:nvSpPr>
          <p:spPr>
            <a:xfrm>
              <a:off x="0" y="0"/>
              <a:ext cx="13721486" cy="13716000"/>
            </a:xfrm>
            <a:custGeom>
              <a:rect b="b" l="l" r="r" t="t"/>
              <a:pathLst>
                <a:path extrusionOk="0" h="13716000" w="13721486">
                  <a:moveTo>
                    <a:pt x="0" y="0"/>
                  </a:moveTo>
                  <a:lnTo>
                    <a:pt x="13721486" y="0"/>
                  </a:lnTo>
                  <a:lnTo>
                    <a:pt x="13721486" y="13716000"/>
                  </a:lnTo>
                  <a:lnTo>
                    <a:pt x="0" y="13716000"/>
                  </a:lnTo>
                  <a:lnTo>
                    <a:pt x="0" y="0"/>
                  </a:lnTo>
                  <a:close/>
                </a:path>
              </a:pathLst>
            </a:custGeom>
            <a:blipFill rotWithShape="1">
              <a:blip r:embed="rId3">
                <a:alphaModFix amt="25000"/>
              </a:blip>
              <a:stretch>
                <a:fillRect b="0" l="0" r="0" t="0"/>
              </a:stretch>
            </a:blipFill>
            <a:ln>
              <a:noFill/>
            </a:ln>
          </p:spPr>
        </p:sp>
        <p:sp>
          <p:nvSpPr>
            <p:cNvPr id="469" name="Google Shape;469;p41"/>
            <p:cNvSpPr/>
            <p:nvPr/>
          </p:nvSpPr>
          <p:spPr>
            <a:xfrm>
              <a:off x="13721486" y="0"/>
              <a:ext cx="13721486" cy="13716000"/>
            </a:xfrm>
            <a:custGeom>
              <a:rect b="b" l="l" r="r" t="t"/>
              <a:pathLst>
                <a:path extrusionOk="0" h="13716000" w="13721486">
                  <a:moveTo>
                    <a:pt x="0" y="0"/>
                  </a:moveTo>
                  <a:lnTo>
                    <a:pt x="13721487" y="0"/>
                  </a:lnTo>
                  <a:lnTo>
                    <a:pt x="13721487" y="13716000"/>
                  </a:lnTo>
                  <a:lnTo>
                    <a:pt x="0" y="13716000"/>
                  </a:lnTo>
                  <a:lnTo>
                    <a:pt x="0" y="0"/>
                  </a:lnTo>
                  <a:close/>
                </a:path>
              </a:pathLst>
            </a:custGeom>
            <a:blipFill rotWithShape="1">
              <a:blip r:embed="rId3">
                <a:alphaModFix amt="25000"/>
              </a:blip>
              <a:stretch>
                <a:fillRect b="0" l="0" r="0" t="0"/>
              </a:stretch>
            </a:blipFill>
            <a:ln>
              <a:noFill/>
            </a:ln>
          </p:spPr>
        </p:sp>
      </p:grpSp>
      <p:grpSp>
        <p:nvGrpSpPr>
          <p:cNvPr id="470" name="Google Shape;470;p41"/>
          <p:cNvGrpSpPr/>
          <p:nvPr/>
        </p:nvGrpSpPr>
        <p:grpSpPr>
          <a:xfrm>
            <a:off x="1772825" y="582988"/>
            <a:ext cx="5199207" cy="1393913"/>
            <a:chOff x="0" y="-38100"/>
            <a:chExt cx="2588731" cy="588000"/>
          </a:xfrm>
        </p:grpSpPr>
        <p:sp>
          <p:nvSpPr>
            <p:cNvPr id="471" name="Google Shape;471;p41"/>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1"/>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3" name="Google Shape;473;p41"/>
          <p:cNvSpPr txBox="1"/>
          <p:nvPr/>
        </p:nvSpPr>
        <p:spPr>
          <a:xfrm>
            <a:off x="1945276" y="818238"/>
            <a:ext cx="48543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000">
                <a:solidFill>
                  <a:srgbClr val="D34937"/>
                </a:solidFill>
                <a:latin typeface="Lexend"/>
                <a:ea typeface="Lexend"/>
                <a:cs typeface="Lexend"/>
                <a:sym typeface="Lexend"/>
              </a:rPr>
              <a:t>Conclusions</a:t>
            </a:r>
            <a:endParaRPr b="1" sz="6000">
              <a:latin typeface="Lexend"/>
              <a:ea typeface="Lexend"/>
              <a:cs typeface="Lexend"/>
              <a:sym typeface="Lexend"/>
            </a:endParaRPr>
          </a:p>
        </p:txBody>
      </p:sp>
      <p:grpSp>
        <p:nvGrpSpPr>
          <p:cNvPr id="474" name="Google Shape;474;p41"/>
          <p:cNvGrpSpPr/>
          <p:nvPr/>
        </p:nvGrpSpPr>
        <p:grpSpPr>
          <a:xfrm>
            <a:off x="-47575" y="1976898"/>
            <a:ext cx="8839999" cy="8310145"/>
            <a:chOff x="0" y="-38100"/>
            <a:chExt cx="2588731" cy="588000"/>
          </a:xfrm>
        </p:grpSpPr>
        <p:sp>
          <p:nvSpPr>
            <p:cNvPr id="475" name="Google Shape;475;p41"/>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1"/>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7" name="Google Shape;477;p41"/>
          <p:cNvGrpSpPr/>
          <p:nvPr/>
        </p:nvGrpSpPr>
        <p:grpSpPr>
          <a:xfrm>
            <a:off x="9448000" y="1976875"/>
            <a:ext cx="8839999" cy="8310145"/>
            <a:chOff x="0" y="-38100"/>
            <a:chExt cx="2588731" cy="588000"/>
          </a:xfrm>
        </p:grpSpPr>
        <p:sp>
          <p:nvSpPr>
            <p:cNvPr id="478" name="Google Shape;478;p41"/>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41"/>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0" name="Google Shape;480;p41"/>
          <p:cNvGrpSpPr/>
          <p:nvPr/>
        </p:nvGrpSpPr>
        <p:grpSpPr>
          <a:xfrm>
            <a:off x="10094674" y="582988"/>
            <a:ext cx="7546669" cy="1393913"/>
            <a:chOff x="0" y="-38100"/>
            <a:chExt cx="2588731" cy="588000"/>
          </a:xfrm>
        </p:grpSpPr>
        <p:sp>
          <p:nvSpPr>
            <p:cNvPr id="481" name="Google Shape;481;p41"/>
            <p:cNvSpPr/>
            <p:nvPr/>
          </p:nvSpPr>
          <p:spPr>
            <a:xfrm>
              <a:off x="0" y="0"/>
              <a:ext cx="2588731" cy="549778"/>
            </a:xfrm>
            <a:custGeom>
              <a:rect b="b" l="l" r="r" t="t"/>
              <a:pathLst>
                <a:path extrusionOk="0" h="549778" w="2588731">
                  <a:moveTo>
                    <a:pt x="40170" y="0"/>
                  </a:moveTo>
                  <a:lnTo>
                    <a:pt x="2548561" y="0"/>
                  </a:lnTo>
                  <a:cubicBezTo>
                    <a:pt x="2559215" y="0"/>
                    <a:pt x="2569432" y="4232"/>
                    <a:pt x="2576966" y="11766"/>
                  </a:cubicBezTo>
                  <a:cubicBezTo>
                    <a:pt x="2584499" y="19299"/>
                    <a:pt x="2588731" y="29517"/>
                    <a:pt x="2588731" y="40170"/>
                  </a:cubicBezTo>
                  <a:lnTo>
                    <a:pt x="2588731" y="509608"/>
                  </a:lnTo>
                  <a:cubicBezTo>
                    <a:pt x="2588731" y="520261"/>
                    <a:pt x="2584499" y="530479"/>
                    <a:pt x="2576966" y="538012"/>
                  </a:cubicBezTo>
                  <a:cubicBezTo>
                    <a:pt x="2569432" y="545546"/>
                    <a:pt x="2559215" y="549778"/>
                    <a:pt x="2548561" y="549778"/>
                  </a:cubicBezTo>
                  <a:lnTo>
                    <a:pt x="40170" y="549778"/>
                  </a:lnTo>
                  <a:cubicBezTo>
                    <a:pt x="17985" y="549778"/>
                    <a:pt x="0" y="531793"/>
                    <a:pt x="0" y="509608"/>
                  </a:cubicBezTo>
                  <a:lnTo>
                    <a:pt x="0" y="40170"/>
                  </a:lnTo>
                  <a:cubicBezTo>
                    <a:pt x="0" y="29517"/>
                    <a:pt x="4232" y="19299"/>
                    <a:pt x="11766" y="11766"/>
                  </a:cubicBezTo>
                  <a:cubicBezTo>
                    <a:pt x="19299" y="4232"/>
                    <a:pt x="29517" y="0"/>
                    <a:pt x="40170" y="0"/>
                  </a:cubicBezTo>
                  <a:close/>
                </a:path>
              </a:pathLst>
            </a:custGeom>
            <a:solidFill>
              <a:srgbClr val="FDE0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1"/>
            <p:cNvSpPr txBox="1"/>
            <p:nvPr/>
          </p:nvSpPr>
          <p:spPr>
            <a:xfrm>
              <a:off x="0" y="-38100"/>
              <a:ext cx="2588700" cy="588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83" name="Google Shape;483;p41"/>
          <p:cNvSpPr txBox="1"/>
          <p:nvPr/>
        </p:nvSpPr>
        <p:spPr>
          <a:xfrm>
            <a:off x="10405950" y="818238"/>
            <a:ext cx="72354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000">
                <a:solidFill>
                  <a:srgbClr val="D34937"/>
                </a:solidFill>
                <a:latin typeface="Lexend"/>
                <a:ea typeface="Lexend"/>
                <a:cs typeface="Lexend"/>
                <a:sym typeface="Lexend"/>
              </a:rPr>
              <a:t>Recommendations</a:t>
            </a:r>
            <a:endParaRPr b="1" sz="6000">
              <a:latin typeface="Lexend"/>
              <a:ea typeface="Lexend"/>
              <a:cs typeface="Lexend"/>
              <a:sym typeface="Lexend"/>
            </a:endParaRPr>
          </a:p>
        </p:txBody>
      </p:sp>
      <p:sp>
        <p:nvSpPr>
          <p:cNvPr id="484" name="Google Shape;484;p41"/>
          <p:cNvSpPr txBox="1"/>
          <p:nvPr/>
        </p:nvSpPr>
        <p:spPr>
          <a:xfrm>
            <a:off x="354525" y="2846475"/>
            <a:ext cx="8035800" cy="71436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Montserrat"/>
              <a:buChar char="●"/>
            </a:pPr>
            <a:r>
              <a:rPr lang="en-US" sz="2200">
                <a:solidFill>
                  <a:schemeClr val="dk1"/>
                </a:solidFill>
                <a:latin typeface="Montserrat"/>
                <a:ea typeface="Montserrat"/>
                <a:cs typeface="Montserrat"/>
                <a:sym typeface="Montserrat"/>
              </a:rPr>
              <a:t>I</a:t>
            </a:r>
            <a:r>
              <a:rPr lang="en-US" sz="2200">
                <a:solidFill>
                  <a:schemeClr val="dk1"/>
                </a:solidFill>
                <a:latin typeface="Montserrat"/>
                <a:ea typeface="Montserrat"/>
                <a:cs typeface="Montserrat"/>
                <a:sym typeface="Montserrat"/>
              </a:rPr>
              <a:t>t is important to acknowledge that the dataset is skewed heavily</a:t>
            </a:r>
            <a:endParaRPr sz="2200">
              <a:solidFill>
                <a:schemeClr val="dk1"/>
              </a:solidFill>
              <a:latin typeface="Montserrat"/>
              <a:ea typeface="Montserrat"/>
              <a:cs typeface="Montserrat"/>
              <a:sym typeface="Montserrat"/>
            </a:endParaRPr>
          </a:p>
          <a:p>
            <a:pPr indent="-368300" lvl="0" marL="457200" rtl="0" algn="l">
              <a:lnSpc>
                <a:spcPct val="115000"/>
              </a:lnSpc>
              <a:spcBef>
                <a:spcPts val="0"/>
              </a:spcBef>
              <a:spcAft>
                <a:spcPts val="0"/>
              </a:spcAft>
              <a:buClr>
                <a:schemeClr val="dk1"/>
              </a:buClr>
              <a:buSzPts val="2200"/>
              <a:buFont typeface="Montserrat"/>
              <a:buChar char="●"/>
            </a:pPr>
            <a:r>
              <a:rPr lang="en-US" sz="2200">
                <a:solidFill>
                  <a:schemeClr val="dk1"/>
                </a:solidFill>
                <a:latin typeface="Montserrat"/>
                <a:ea typeface="Montserrat"/>
                <a:cs typeface="Montserrat"/>
                <a:sym typeface="Montserrat"/>
              </a:rPr>
              <a:t>‘</a:t>
            </a:r>
            <a:r>
              <a:rPr lang="en-US" sz="2200">
                <a:solidFill>
                  <a:schemeClr val="dk1"/>
                </a:solidFill>
                <a:latin typeface="Montserrat"/>
                <a:ea typeface="Montserrat"/>
                <a:cs typeface="Montserrat"/>
                <a:sym typeface="Montserrat"/>
              </a:rPr>
              <a:t>hungry’ cries are in a dominate place over all other types of cries which led to bias and hard</a:t>
            </a:r>
            <a:r>
              <a:rPr lang="en-US" sz="2200">
                <a:solidFill>
                  <a:schemeClr val="dk1"/>
                </a:solidFill>
                <a:latin typeface="Montserrat"/>
                <a:ea typeface="Montserrat"/>
                <a:cs typeface="Montserrat"/>
                <a:sym typeface="Montserrat"/>
              </a:rPr>
              <a:t> for the models to accurately classify the data</a:t>
            </a:r>
            <a:endParaRPr sz="2200">
              <a:solidFill>
                <a:schemeClr val="dk1"/>
              </a:solidFill>
              <a:latin typeface="Montserrat"/>
              <a:ea typeface="Montserrat"/>
              <a:cs typeface="Montserrat"/>
              <a:sym typeface="Montserrat"/>
            </a:endParaRPr>
          </a:p>
          <a:p>
            <a:pPr indent="-368300" lvl="0" marL="457200" rtl="0" algn="l">
              <a:lnSpc>
                <a:spcPct val="115000"/>
              </a:lnSpc>
              <a:spcBef>
                <a:spcPts val="0"/>
              </a:spcBef>
              <a:spcAft>
                <a:spcPts val="0"/>
              </a:spcAft>
              <a:buClr>
                <a:schemeClr val="dk1"/>
              </a:buClr>
              <a:buSzPts val="2200"/>
              <a:buFont typeface="Montserrat"/>
              <a:buChar char="●"/>
            </a:pPr>
            <a:r>
              <a:rPr lang="en-US" sz="2200">
                <a:solidFill>
                  <a:schemeClr val="dk1"/>
                </a:solidFill>
                <a:latin typeface="Montserrat"/>
                <a:ea typeface="Montserrat"/>
                <a:cs typeface="Montserrat"/>
                <a:sym typeface="Montserrat"/>
              </a:rPr>
              <a:t>KNN generally works better in less noisy data and a smaller dataset. Maybe downsampling the data would improve the accuracy of these models, and also including more data of different types of cries.</a:t>
            </a:r>
            <a:endParaRPr sz="2200">
              <a:solidFill>
                <a:schemeClr val="dk1"/>
              </a:solidFill>
              <a:latin typeface="Montserrat"/>
              <a:ea typeface="Montserrat"/>
              <a:cs typeface="Montserrat"/>
              <a:sym typeface="Montserrat"/>
            </a:endParaRPr>
          </a:p>
          <a:p>
            <a:pPr indent="-368300" lvl="0" marL="457200" rtl="0" algn="l">
              <a:lnSpc>
                <a:spcPct val="115000"/>
              </a:lnSpc>
              <a:spcBef>
                <a:spcPts val="0"/>
              </a:spcBef>
              <a:spcAft>
                <a:spcPts val="0"/>
              </a:spcAft>
              <a:buClr>
                <a:schemeClr val="dk1"/>
              </a:buClr>
              <a:buSzPts val="2200"/>
              <a:buFont typeface="Montserrat"/>
              <a:buChar char="●"/>
            </a:pPr>
            <a:r>
              <a:rPr lang="en-US" sz="2200">
                <a:solidFill>
                  <a:schemeClr val="dk1"/>
                </a:solidFill>
                <a:latin typeface="Montserrat"/>
                <a:ea typeface="Montserrat"/>
                <a:cs typeface="Montserrat"/>
                <a:sym typeface="Montserrat"/>
              </a:rPr>
              <a:t>Random Forest seems to be the best model from the good statisticians’ perspective as it </a:t>
            </a:r>
            <a:r>
              <a:rPr lang="en-US" sz="2200">
                <a:solidFill>
                  <a:schemeClr val="dk1"/>
                </a:solidFill>
                <a:latin typeface="Montserrat"/>
                <a:ea typeface="Montserrat"/>
                <a:cs typeface="Montserrat"/>
                <a:sym typeface="Montserrat"/>
              </a:rPr>
              <a:t>archives</a:t>
            </a:r>
            <a:r>
              <a:rPr lang="en-US" sz="2200">
                <a:solidFill>
                  <a:schemeClr val="dk1"/>
                </a:solidFill>
                <a:latin typeface="Montserrat"/>
                <a:ea typeface="Montserrat"/>
                <a:cs typeface="Montserrat"/>
                <a:sym typeface="Montserrat"/>
              </a:rPr>
              <a:t> the </a:t>
            </a:r>
            <a:r>
              <a:rPr lang="en-US" sz="2200">
                <a:solidFill>
                  <a:schemeClr val="dk1"/>
                </a:solidFill>
                <a:latin typeface="Montserrat"/>
                <a:ea typeface="Montserrat"/>
                <a:cs typeface="Montserrat"/>
                <a:sym typeface="Montserrat"/>
              </a:rPr>
              <a:t>accuracy</a:t>
            </a:r>
            <a:r>
              <a:rPr lang="en-US" sz="2200">
                <a:solidFill>
                  <a:schemeClr val="dk1"/>
                </a:solidFill>
                <a:latin typeface="Montserrat"/>
                <a:ea typeface="Montserrat"/>
                <a:cs typeface="Montserrat"/>
                <a:sym typeface="Montserrat"/>
              </a:rPr>
              <a:t> of 85.71%.</a:t>
            </a:r>
            <a:endParaRPr sz="2200">
              <a:solidFill>
                <a:schemeClr val="dk1"/>
              </a:solidFill>
              <a:latin typeface="Montserrat"/>
              <a:ea typeface="Montserrat"/>
              <a:cs typeface="Montserrat"/>
              <a:sym typeface="Montserrat"/>
            </a:endParaRPr>
          </a:p>
          <a:p>
            <a:pPr indent="-368300" lvl="0" marL="457200" rtl="0" algn="l">
              <a:lnSpc>
                <a:spcPct val="115000"/>
              </a:lnSpc>
              <a:spcBef>
                <a:spcPts val="0"/>
              </a:spcBef>
              <a:spcAft>
                <a:spcPts val="0"/>
              </a:spcAft>
              <a:buClr>
                <a:schemeClr val="dk1"/>
              </a:buClr>
              <a:buSzPts val="2200"/>
              <a:buFont typeface="Montserrat"/>
              <a:buChar char="●"/>
            </a:pPr>
            <a:r>
              <a:rPr lang="en-US" sz="2200">
                <a:solidFill>
                  <a:schemeClr val="dk1"/>
                </a:solidFill>
                <a:latin typeface="Montserrat"/>
                <a:ea typeface="Montserrat"/>
                <a:cs typeface="Montserrat"/>
                <a:sym typeface="Montserrat"/>
              </a:rPr>
              <a:t>Overall, it is incredibly hard to tell whether the models we ran were accurate or not due to the skewness of the data. This meant that even reducing the number of variables or number of classes to be predicted did not improve testing accuracy for some of the models.</a:t>
            </a:r>
            <a:endParaRPr sz="2200">
              <a:solidFill>
                <a:schemeClr val="dk1"/>
              </a:solidFill>
              <a:latin typeface="Montserrat"/>
              <a:ea typeface="Montserrat"/>
              <a:cs typeface="Montserrat"/>
              <a:sym typeface="Montserrat"/>
            </a:endParaRPr>
          </a:p>
        </p:txBody>
      </p:sp>
      <p:sp>
        <p:nvSpPr>
          <p:cNvPr id="485" name="Google Shape;485;p41"/>
          <p:cNvSpPr txBox="1"/>
          <p:nvPr/>
        </p:nvSpPr>
        <p:spPr>
          <a:xfrm>
            <a:off x="9801500" y="2846475"/>
            <a:ext cx="8133000" cy="75330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chemeClr val="dk1"/>
              </a:buClr>
              <a:buSzPts val="2200"/>
              <a:buFont typeface="Montserrat"/>
              <a:buChar char="●"/>
            </a:pPr>
            <a:r>
              <a:rPr lang="en-US" sz="2200">
                <a:solidFill>
                  <a:schemeClr val="dk1"/>
                </a:solidFill>
                <a:latin typeface="Montserrat"/>
                <a:ea typeface="Montserrat"/>
                <a:cs typeface="Montserrat"/>
                <a:sym typeface="Montserrat"/>
              </a:rPr>
              <a:t>Include more observations to make a larger dataset  and improve balance of data to properly train models into predicting classes other than hungry cries</a:t>
            </a:r>
            <a:endParaRPr sz="2200">
              <a:solidFill>
                <a:schemeClr val="dk1"/>
              </a:solidFill>
              <a:latin typeface="Montserrat"/>
              <a:ea typeface="Montserrat"/>
              <a:cs typeface="Montserrat"/>
              <a:sym typeface="Montserrat"/>
            </a:endParaRPr>
          </a:p>
          <a:p>
            <a:pPr indent="-368300" lvl="0" marL="457200" rtl="0" algn="l">
              <a:lnSpc>
                <a:spcPct val="115000"/>
              </a:lnSpc>
              <a:spcBef>
                <a:spcPts val="0"/>
              </a:spcBef>
              <a:spcAft>
                <a:spcPts val="0"/>
              </a:spcAft>
              <a:buClr>
                <a:schemeClr val="dk1"/>
              </a:buClr>
              <a:buSzPts val="2200"/>
              <a:buFont typeface="Montserrat"/>
              <a:buChar char="●"/>
            </a:pPr>
            <a:r>
              <a:rPr lang="en-US" sz="2200">
                <a:solidFill>
                  <a:schemeClr val="dk1"/>
                </a:solidFill>
                <a:latin typeface="Montserrat"/>
                <a:ea typeface="Montserrat"/>
                <a:cs typeface="Montserrat"/>
                <a:sym typeface="Montserrat"/>
              </a:rPr>
              <a:t>M</a:t>
            </a:r>
            <a:r>
              <a:rPr lang="en-US" sz="2200">
                <a:solidFill>
                  <a:schemeClr val="dk1"/>
                </a:solidFill>
                <a:latin typeface="Montserrat"/>
                <a:ea typeface="Montserrat"/>
                <a:cs typeface="Montserrat"/>
                <a:sym typeface="Montserrat"/>
              </a:rPr>
              <a:t>ake sure to reduce dimensionality of the data since PCA is important in choosing the factors that account for most of the variance in the data, especially in this kind of data where the number of predictor variables are massive and makes the data incredibly noisy. It is good to understand which variables are useless to reduce the runtime for models</a:t>
            </a:r>
            <a:endParaRPr sz="2200">
              <a:solidFill>
                <a:schemeClr val="dk1"/>
              </a:solidFill>
              <a:latin typeface="Montserrat"/>
              <a:ea typeface="Montserrat"/>
              <a:cs typeface="Montserrat"/>
              <a:sym typeface="Montserrat"/>
            </a:endParaRPr>
          </a:p>
          <a:p>
            <a:pPr indent="-368300" lvl="0" marL="457200" rtl="0" algn="l">
              <a:lnSpc>
                <a:spcPct val="115000"/>
              </a:lnSpc>
              <a:spcBef>
                <a:spcPts val="0"/>
              </a:spcBef>
              <a:spcAft>
                <a:spcPts val="0"/>
              </a:spcAft>
              <a:buClr>
                <a:schemeClr val="dk1"/>
              </a:buClr>
              <a:buSzPts val="2200"/>
              <a:buFont typeface="Montserrat"/>
              <a:buChar char="●"/>
            </a:pPr>
            <a:r>
              <a:rPr lang="en-US" sz="2200">
                <a:solidFill>
                  <a:schemeClr val="dk1"/>
                </a:solidFill>
                <a:latin typeface="Montserrat"/>
                <a:ea typeface="Montserrat"/>
                <a:cs typeface="Montserrat"/>
                <a:sym typeface="Montserrat"/>
              </a:rPr>
              <a:t>Deeper understanding of the meaning of all various variables of acoustics features in the dataset and try to make more interactions in between.</a:t>
            </a:r>
            <a:endParaRPr sz="2200">
              <a:solidFill>
                <a:schemeClr val="dk1"/>
              </a:solidFill>
              <a:latin typeface="Montserrat"/>
              <a:ea typeface="Montserrat"/>
              <a:cs typeface="Montserrat"/>
              <a:sym typeface="Montserrat"/>
            </a:endParaRPr>
          </a:p>
          <a:p>
            <a:pPr indent="-368300" lvl="0" marL="457200" rtl="0" algn="l">
              <a:lnSpc>
                <a:spcPct val="115000"/>
              </a:lnSpc>
              <a:spcBef>
                <a:spcPts val="0"/>
              </a:spcBef>
              <a:spcAft>
                <a:spcPts val="0"/>
              </a:spcAft>
              <a:buClr>
                <a:schemeClr val="dk1"/>
              </a:buClr>
              <a:buSzPts val="2200"/>
              <a:buFont typeface="Montserrat"/>
              <a:buChar char="●"/>
            </a:pPr>
            <a:r>
              <a:rPr lang="en-US" sz="2200">
                <a:solidFill>
                  <a:schemeClr val="dk1"/>
                </a:solidFill>
                <a:latin typeface="Montserrat"/>
                <a:ea typeface="Montserrat"/>
                <a:cs typeface="Montserrat"/>
                <a:sym typeface="Montserrat"/>
              </a:rPr>
              <a:t>Though using the unfiltered data as we did from the bad statistician's’ perspective, we achieved the highest accuracy ever (100%), we still have to be honest with clients and our own research goal by cleaning the dataset thoroughly.</a:t>
            </a:r>
            <a:endParaRPr sz="2200">
              <a:solidFill>
                <a:schemeClr val="dk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